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  <p:sldMasterId id="2147483661" r:id="rId2"/>
  </p:sldMasterIdLst>
  <p:notesMasterIdLst>
    <p:notesMasterId r:id="rId58"/>
  </p:notesMasterIdLst>
  <p:handoutMasterIdLst>
    <p:handoutMasterId r:id="rId59"/>
  </p:handoutMasterIdLst>
  <p:sldIdLst>
    <p:sldId id="407" r:id="rId3"/>
    <p:sldId id="405" r:id="rId4"/>
    <p:sldId id="408" r:id="rId5"/>
    <p:sldId id="340" r:id="rId6"/>
    <p:sldId id="417" r:id="rId7"/>
    <p:sldId id="338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41" r:id="rId18"/>
    <p:sldId id="439" r:id="rId19"/>
    <p:sldId id="452" r:id="rId20"/>
    <p:sldId id="440" r:id="rId21"/>
    <p:sldId id="442" r:id="rId22"/>
    <p:sldId id="443" r:id="rId23"/>
    <p:sldId id="444" r:id="rId24"/>
    <p:sldId id="445" r:id="rId25"/>
    <p:sldId id="446" r:id="rId26"/>
    <p:sldId id="447" r:id="rId27"/>
    <p:sldId id="448" r:id="rId28"/>
    <p:sldId id="449" r:id="rId29"/>
    <p:sldId id="450" r:id="rId30"/>
    <p:sldId id="453" r:id="rId31"/>
    <p:sldId id="451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462" r:id="rId41"/>
    <p:sldId id="463" r:id="rId42"/>
    <p:sldId id="464" r:id="rId43"/>
    <p:sldId id="469" r:id="rId44"/>
    <p:sldId id="466" r:id="rId45"/>
    <p:sldId id="470" r:id="rId46"/>
    <p:sldId id="471" r:id="rId47"/>
    <p:sldId id="472" r:id="rId48"/>
    <p:sldId id="477" r:id="rId49"/>
    <p:sldId id="473" r:id="rId50"/>
    <p:sldId id="474" r:id="rId51"/>
    <p:sldId id="475" r:id="rId52"/>
    <p:sldId id="476" r:id="rId53"/>
    <p:sldId id="478" r:id="rId54"/>
    <p:sldId id="479" r:id="rId55"/>
    <p:sldId id="480" r:id="rId56"/>
    <p:sldId id="429" r:id="rId5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11B0E9"/>
    <a:srgbClr val="3399FF"/>
    <a:srgbClr val="6DEDD8"/>
    <a:srgbClr val="404040"/>
    <a:srgbClr val="2898D6"/>
    <a:srgbClr val="7FC3E7"/>
    <a:srgbClr val="00B0F0"/>
    <a:srgbClr val="41E8CD"/>
    <a:srgbClr val="007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1" autoAdjust="0"/>
    <p:restoredTop sz="88018" autoAdjust="0"/>
  </p:normalViewPr>
  <p:slideViewPr>
    <p:cSldViewPr snapToGrid="0">
      <p:cViewPr varScale="1">
        <p:scale>
          <a:sx n="84" d="100"/>
          <a:sy n="84" d="100"/>
        </p:scale>
        <p:origin x="802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36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-2682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8F53-036D-42D9-89B6-3327261F1ED8}" type="datetimeFigureOut">
              <a:rPr lang="zh-CN" altLang="en-US" smtClean="0"/>
              <a:pPr/>
              <a:t>2020-11-20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FE77F-D0C7-470C-AF9A-B00186779A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7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5B0FBECB-D1BF-4B92-B178-AA60E3B9FE43}" type="datetime1">
              <a:rPr lang="zh-CN" altLang="en-US"/>
              <a:pPr/>
              <a:t>2020-11-20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单击此处编辑母版文本样式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第二级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第三级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第四级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6BC31853-57FE-4155-A74E-EBB727E004B5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273732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882867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0269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06506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202403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240357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09717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04029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08271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90279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273271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30710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36350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84305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12979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21940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540431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27210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502638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19080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755468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42179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7982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65223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84970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618892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81626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440396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93755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26029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2615522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945147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7944365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613879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95434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073748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63018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7770058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520749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371788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177541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763146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529702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663069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072528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839558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05723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7986614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778775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4930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77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83000">
              <a:srgbClr val="E6E3DE"/>
            </a:gs>
            <a:gs pos="20000">
              <a:srgbClr val="F7F4ED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281" y="1308606"/>
            <a:ext cx="6858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965734" y="-207685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4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6" name="矩形 5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1538288" y="2460973"/>
            <a:ext cx="1181100" cy="11811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3143249" y="3414714"/>
            <a:ext cx="1181100" cy="11811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443162" y="2762250"/>
            <a:ext cx="1000125" cy="1000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2627577" y="2926604"/>
            <a:ext cx="694267" cy="798513"/>
          </a:xfrm>
        </p:spPr>
        <p:txBody>
          <a:bodyPr/>
          <a:lstStyle>
            <a:lvl1pPr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4633457" y="2007344"/>
            <a:ext cx="5405967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633456" y="2703560"/>
            <a:ext cx="5882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82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972050" y="-1"/>
            <a:ext cx="7219950" cy="6934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676650" y="-1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6650" y="1158607"/>
            <a:ext cx="1295401" cy="117054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676650" y="2280173"/>
            <a:ext cx="1295401" cy="46540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381248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1085846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209556" y="1146672"/>
            <a:ext cx="1295401" cy="1170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085846" y="0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4972053" y="1158607"/>
            <a:ext cx="7219947" cy="1170543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800" b="1" dirty="0">
                <a:solidFill>
                  <a:schemeClr val="bg1"/>
                </a:solidFill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12"/>
          </p:nvPr>
        </p:nvSpPr>
        <p:spPr>
          <a:xfrm>
            <a:off x="5181606" y="2508676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13"/>
          </p:nvPr>
        </p:nvSpPr>
        <p:spPr>
          <a:xfrm>
            <a:off x="5181606" y="3256640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4"/>
          </p:nvPr>
        </p:nvSpPr>
        <p:spPr>
          <a:xfrm>
            <a:off x="5181606" y="4004604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15"/>
          </p:nvPr>
        </p:nvSpPr>
        <p:spPr>
          <a:xfrm>
            <a:off x="5181606" y="4752568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6"/>
          </p:nvPr>
        </p:nvSpPr>
        <p:spPr>
          <a:xfrm>
            <a:off x="5181606" y="5465653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7"/>
          </p:nvPr>
        </p:nvSpPr>
        <p:spPr>
          <a:xfrm>
            <a:off x="5181606" y="6213617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16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367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97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1393600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83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虚拟化的概念</a:t>
            </a:r>
            <a:endParaRPr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0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2970653"/>
            <a:ext cx="4549775" cy="4590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417056" y="39405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872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17" name="圆角矩形 16"/>
          <p:cNvSpPr/>
          <p:nvPr userDrawn="1"/>
        </p:nvSpPr>
        <p:spPr>
          <a:xfrm rot="10800000" flipV="1">
            <a:off x="695621" y="5695950"/>
            <a:ext cx="2850653" cy="611653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>
              <a:lnSpc>
                <a:spcPct val="13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-92075" y="5765944"/>
            <a:ext cx="4549775" cy="495156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1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9525" y="-4534"/>
            <a:ext cx="12217398" cy="685799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5874" y="-119287"/>
            <a:ext cx="2114352" cy="1286328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204912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010783" y="546001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420358" y="546001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010783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625145" y="848819"/>
              <a:ext cx="606880" cy="61485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54048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30439" y="-75035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156462" y="190422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 smtClean="0"/>
              <a:t>输入标题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162700" y="765847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输入文本输入</a:t>
            </a:r>
            <a:endParaRPr lang="zh-CN" altLang="en-US" dirty="0"/>
          </a:p>
        </p:txBody>
      </p:sp>
      <p:sp>
        <p:nvSpPr>
          <p:cNvPr id="25" name="矩形 24"/>
          <p:cNvSpPr/>
          <p:nvPr userDrawn="1"/>
        </p:nvSpPr>
        <p:spPr>
          <a:xfrm>
            <a:off x="6084353" y="252859"/>
            <a:ext cx="6133045" cy="750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1B0E9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 97"/>
          <p:cNvGrpSpPr/>
          <p:nvPr userDrawn="1"/>
        </p:nvGrpSpPr>
        <p:grpSpPr>
          <a:xfrm>
            <a:off x="8814189" y="329060"/>
            <a:ext cx="3441689" cy="573186"/>
            <a:chOff x="9284089" y="252855"/>
            <a:chExt cx="2907908" cy="484289"/>
          </a:xfrm>
        </p:grpSpPr>
        <p:grpSp>
          <p:nvGrpSpPr>
            <p:cNvPr id="27" name="组 98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29" name="组 100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2" y="220271"/>
                <a:chExt cx="1284096" cy="1266241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1537849" y="211344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Freeform 96"/>
                <p:cNvSpPr>
                  <a:spLocks/>
                </p:cNvSpPr>
                <p:nvPr/>
              </p:nvSpPr>
              <p:spPr bwMode="auto">
                <a:xfrm>
                  <a:off x="1804149" y="499515"/>
                  <a:ext cx="733646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28" name="文本框 99"/>
            <p:cNvSpPr txBox="1"/>
            <p:nvPr/>
          </p:nvSpPr>
          <p:spPr>
            <a:xfrm>
              <a:off x="9284089" y="252855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endPara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endParaRPr>
            </a:p>
          </p:txBody>
        </p:sp>
      </p:grpSp>
      <p:sp>
        <p:nvSpPr>
          <p:cNvPr id="40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48637" y="332859"/>
            <a:ext cx="4549775" cy="6096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</a:rPr>
              <a:t>输入副标题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763" y="-11821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494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437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dirty="0" err="1" smtClean="0"/>
              <a:t>OpenStack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任务实现</a:t>
            </a:r>
            <a:endParaRPr lang="zh-CN" altLang="en-US" dirty="0"/>
          </a:p>
        </p:txBody>
      </p:sp>
      <p:sp>
        <p:nvSpPr>
          <p:cNvPr id="39" name="圆角矩形 38"/>
          <p:cNvSpPr/>
          <p:nvPr userDrawn="1"/>
        </p:nvSpPr>
        <p:spPr>
          <a:xfrm>
            <a:off x="-304800" y="1844435"/>
            <a:ext cx="11168739" cy="4628936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 userDrawn="1"/>
        </p:nvSpPr>
        <p:spPr>
          <a:xfrm>
            <a:off x="-304800" y="1679335"/>
            <a:ext cx="11168739" cy="4628936"/>
          </a:xfrm>
          <a:prstGeom prst="roundRect">
            <a:avLst>
              <a:gd name="adj" fmla="val 0"/>
            </a:avLst>
          </a:prstGeom>
          <a:solidFill>
            <a:srgbClr val="7FC3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 userDrawn="1"/>
        </p:nvSpPr>
        <p:spPr>
          <a:xfrm rot="16200000" flipV="1">
            <a:off x="11799416" y="4424056"/>
            <a:ext cx="770655" cy="769253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 userDrawn="1"/>
        </p:nvSpPr>
        <p:spPr>
          <a:xfrm rot="16200000" flipV="1">
            <a:off x="11799416" y="5324189"/>
            <a:ext cx="770655" cy="769253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 userDrawn="1"/>
        </p:nvSpPr>
        <p:spPr>
          <a:xfrm rot="16200000" flipV="1">
            <a:off x="11799414" y="265667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 userDrawn="1"/>
        </p:nvSpPr>
        <p:spPr>
          <a:xfrm rot="16200000" flipV="1">
            <a:off x="11799414" y="3556806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 userDrawn="1"/>
        </p:nvSpPr>
        <p:spPr>
          <a:xfrm rot="16200000" flipV="1">
            <a:off x="11799416" y="173615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0595426" y="1609725"/>
            <a:ext cx="653596" cy="5248275"/>
          </a:xfrm>
        </p:spPr>
        <p:txBody>
          <a:bodyPr/>
          <a:lstStyle>
            <a:lvl2pPr marL="457200" indent="0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</a:lstStyle>
          <a:p>
            <a:pPr lvl="1"/>
            <a:endParaRPr lang="zh-CN" alt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32636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490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0" y="-124529"/>
            <a:ext cx="12192000" cy="698252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813050" y="2298700"/>
            <a:ext cx="59944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807449" y="4378592"/>
            <a:ext cx="1155701" cy="10443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9963149" y="3334284"/>
            <a:ext cx="1155701" cy="10443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820147" y="2289976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7600944" y="1245668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657348" y="4378592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657347" y="3334284"/>
            <a:ext cx="1155701" cy="1044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0" hasCustomPrompt="1"/>
          </p:nvPr>
        </p:nvSpPr>
        <p:spPr>
          <a:xfrm>
            <a:off x="4379409" y="2501900"/>
            <a:ext cx="2861681" cy="204876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zh-CN" altLang="en-US" sz="6600" b="1" dirty="0">
                <a:solidFill>
                  <a:schemeClr val="bg1"/>
                </a:solidFill>
              </a:defRPr>
            </a:lvl1pPr>
          </a:lstStyle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THANK</a:t>
            </a:r>
            <a:r>
              <a:rPr kumimoji="1" lang="zh-CN" altLang="en-US" sz="6600" b="1" dirty="0">
                <a:solidFill>
                  <a:schemeClr val="bg1"/>
                </a:solidFill>
              </a:rPr>
              <a:t> </a:t>
            </a:r>
            <a:endParaRPr kumimoji="1" lang="en-US" altLang="zh-CN" sz="6600" b="1" dirty="0">
              <a:solidFill>
                <a:schemeClr val="bg1"/>
              </a:solidFill>
            </a:endParaRPr>
          </a:p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YOU!</a:t>
            </a:r>
            <a:endParaRPr kumimoji="1" lang="zh-CN" altLang="en-US" sz="66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21" name="矩形 20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650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431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6" name="组合 5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接连接符 7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39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9D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61"/>
          <p:cNvSpPr>
            <a:spLocks noChangeArrowheads="1"/>
          </p:cNvSpPr>
          <p:nvPr userDrawn="1"/>
        </p:nvSpPr>
        <p:spPr bwMode="auto">
          <a:xfrm>
            <a:off x="7707257" y="2061376"/>
            <a:ext cx="2948042" cy="15696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9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818267" y="-10865"/>
            <a:ext cx="4754267" cy="2091637"/>
            <a:chOff x="3954098" y="-6470"/>
            <a:chExt cx="4322060" cy="1571477"/>
          </a:xfrm>
        </p:grpSpPr>
        <p:sp>
          <p:nvSpPr>
            <p:cNvPr id="13" name="矩形 12"/>
            <p:cNvSpPr/>
            <p:nvPr/>
          </p:nvSpPr>
          <p:spPr>
            <a:xfrm>
              <a:off x="3955678" y="-6469"/>
              <a:ext cx="2160240" cy="73307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6115918" y="-6470"/>
              <a:ext cx="2160240" cy="73307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6114884" y="725983"/>
              <a:ext cx="2160240" cy="733073"/>
            </a:xfrm>
            <a:prstGeom prst="rect">
              <a:avLst/>
            </a:prstGeom>
            <a:solidFill>
              <a:srgbClr val="76BF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3954098" y="726604"/>
              <a:ext cx="2160241" cy="733073"/>
            </a:xfrm>
            <a:prstGeom prst="rect">
              <a:avLst/>
            </a:prstGeom>
            <a:solidFill>
              <a:srgbClr val="428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955678" y="1459384"/>
              <a:ext cx="2160240" cy="10562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111726" y="1458948"/>
              <a:ext cx="2160240" cy="10562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74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41933" y="49353"/>
            <a:ext cx="1898679" cy="1562883"/>
            <a:chOff x="741933" y="49353"/>
            <a:chExt cx="1898679" cy="1562883"/>
          </a:xfrm>
        </p:grpSpPr>
        <p:sp>
          <p:nvSpPr>
            <p:cNvPr id="10" name="文本框 9"/>
            <p:cNvSpPr txBox="1"/>
            <p:nvPr/>
          </p:nvSpPr>
          <p:spPr>
            <a:xfrm>
              <a:off x="1301784" y="1229717"/>
              <a:ext cx="1338828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</a:t>
              </a:r>
              <a:r>
                <a:rPr lang="zh-CN" altLang="en-US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识云计算</a:t>
              </a:r>
              <a:endPara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6397" y="1150571"/>
              <a:ext cx="56297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41933" y="49353"/>
              <a:ext cx="1860579" cy="1095973"/>
              <a:chOff x="741933" y="49353"/>
              <a:chExt cx="1860579" cy="1095973"/>
            </a:xfrm>
          </p:grpSpPr>
          <p:cxnSp>
            <p:nvCxnSpPr>
              <p:cNvPr id="13" name="直接连接符 12"/>
              <p:cNvCxnSpPr/>
              <p:nvPr/>
            </p:nvCxnSpPr>
            <p:spPr bwMode="auto">
              <a:xfrm>
                <a:off x="845226" y="1145326"/>
                <a:ext cx="1757286" cy="0"/>
              </a:xfrm>
              <a:prstGeom prst="line">
                <a:avLst/>
              </a:prstGeom>
              <a:ln/>
              <a:ex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2"/>
          </p:nvPr>
        </p:nvSpPr>
        <p:spPr>
          <a:xfrm>
            <a:off x="619504" y="4012446"/>
            <a:ext cx="516890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zh-CN" altLang="en-US" sz="1100" dirty="0">
                <a:solidFill>
                  <a:schemeClr val="bg1"/>
                </a:solidFill>
              </a:defRPr>
            </a:lvl1pPr>
          </a:lstStyle>
          <a:p>
            <a:pPr marL="0" lvl="0" algn="r" defTabSz="914377"/>
            <a:endParaRPr lang="zh-CN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552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41933" y="49353"/>
            <a:ext cx="2066734" cy="1556858"/>
            <a:chOff x="741933" y="49353"/>
            <a:chExt cx="2066734" cy="1556858"/>
          </a:xfrm>
        </p:grpSpPr>
        <p:grpSp>
          <p:nvGrpSpPr>
            <p:cNvPr id="16" name="组合 15"/>
            <p:cNvGrpSpPr/>
            <p:nvPr/>
          </p:nvGrpSpPr>
          <p:grpSpPr>
            <a:xfrm>
              <a:off x="741933" y="49353"/>
              <a:ext cx="2066734" cy="1556858"/>
              <a:chOff x="741933" y="49353"/>
              <a:chExt cx="2066734" cy="155685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1239007" y="1226093"/>
                <a:ext cx="1569660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虚拟化的概念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直接连接符 19"/>
            <p:cNvCxnSpPr/>
            <p:nvPr/>
          </p:nvCxnSpPr>
          <p:spPr bwMode="auto">
            <a:xfrm>
              <a:off x="845226" y="1145326"/>
              <a:ext cx="1859874" cy="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805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13" name="组合 12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6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直接连接符 23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556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27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03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40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33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79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48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96" y="-20538"/>
            <a:ext cx="12208675" cy="37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04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61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ctr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423388"/>
            <a:ext cx="10363200" cy="1500187"/>
          </a:xfrm>
        </p:spPr>
        <p:txBody>
          <a:bodyPr anchor="ctr"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64" y="6525170"/>
            <a:ext cx="1224136" cy="3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0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5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20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90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50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577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560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08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3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25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86" r:id="rId4"/>
    <p:sldLayoutId id="2147483685" r:id="rId5"/>
    <p:sldLayoutId id="2147483652" r:id="rId6"/>
    <p:sldLayoutId id="2147483682" r:id="rId7"/>
    <p:sldLayoutId id="2147483679" r:id="rId8"/>
    <p:sldLayoutId id="2147483684" r:id="rId9"/>
    <p:sldLayoutId id="2147483683" r:id="rId10"/>
    <p:sldLayoutId id="2147483680" r:id="rId11"/>
    <p:sldLayoutId id="2147483681" r:id="rId12"/>
    <p:sldLayoutId id="2147483675" r:id="rId13"/>
    <p:sldLayoutId id="2147483676" r:id="rId14"/>
    <p:sldLayoutId id="2147483653" r:id="rId15"/>
    <p:sldLayoutId id="2147483654" r:id="rId16"/>
    <p:sldLayoutId id="2147483677" r:id="rId17"/>
    <p:sldLayoutId id="2147483678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08" y="6270172"/>
            <a:ext cx="1671983" cy="4545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787" y="65315"/>
            <a:ext cx="867677" cy="86767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-9969" y="1"/>
            <a:ext cx="261257" cy="93299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18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4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362813" y="4043423"/>
            <a:ext cx="2452723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编排工具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929774"/>
            <a:ext cx="779227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kern="100" spc="10" dirty="0" smtClean="0">
                <a:latin typeface="+mn-ea"/>
                <a:ea typeface="+mn-ea"/>
              </a:rPr>
              <a:t>       </a:t>
            </a:r>
            <a:r>
              <a:rPr lang="en-US" altLang="zh-CN" sz="3200" dirty="0" err="1">
                <a:latin typeface="+mn-ea"/>
                <a:ea typeface="+mn-ea"/>
              </a:rPr>
              <a:t>Docker</a:t>
            </a:r>
            <a:r>
              <a:rPr lang="zh-CN" altLang="zh-CN" sz="3200" dirty="0">
                <a:latin typeface="+mn-ea"/>
                <a:ea typeface="+mn-ea"/>
              </a:rPr>
              <a:t>平台及周边生态系统提供了很多工具来管理容器的生命周期。容器编排工具将生命周期管理能力扩展到可在集群上部署复杂的、多容器的工作负载。本项目通过两个任务介绍了</a:t>
            </a:r>
            <a:r>
              <a:rPr lang="en-US" altLang="zh-CN" sz="3200" dirty="0">
                <a:latin typeface="+mn-ea"/>
                <a:ea typeface="+mn-ea"/>
              </a:rPr>
              <a:t>Compose</a:t>
            </a:r>
            <a:r>
              <a:rPr lang="zh-CN" altLang="zh-CN" sz="3200" dirty="0">
                <a:latin typeface="+mn-ea"/>
                <a:ea typeface="+mn-ea"/>
              </a:rPr>
              <a:t>编排工具和</a:t>
            </a:r>
            <a:r>
              <a:rPr lang="en-US" altLang="zh-CN" sz="3200" dirty="0">
                <a:latin typeface="+mn-ea"/>
                <a:ea typeface="+mn-ea"/>
              </a:rPr>
              <a:t>Swarm</a:t>
            </a:r>
            <a:r>
              <a:rPr lang="zh-CN" altLang="zh-CN" sz="3200" dirty="0">
                <a:latin typeface="+mn-ea"/>
                <a:ea typeface="+mn-ea"/>
              </a:rPr>
              <a:t>编排工具的使用方法。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17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975011"/>
          </a:xfrm>
        </p:spPr>
        <p:txBody>
          <a:bodyPr/>
          <a:lstStyle/>
          <a:p>
            <a:r>
              <a:rPr lang="zh-CN" altLang="en-US" dirty="0" smtClean="0"/>
              <a:t>知识目标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181606" y="2583022"/>
            <a:ext cx="6718845" cy="260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了解容器编排的管理方法。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容器编排的基本使用方法。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容器集群的管理方法。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容器集群的基本使用方法。</a:t>
            </a:r>
          </a:p>
        </p:txBody>
      </p:sp>
    </p:spTree>
    <p:extLst>
      <p:ext uri="{BB962C8B-B14F-4D97-AF65-F5344CB8AC3E}">
        <p14:creationId xmlns:p14="http://schemas.microsoft.com/office/powerpoint/2010/main" val="36101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975011"/>
          </a:xfrm>
        </p:spPr>
        <p:txBody>
          <a:bodyPr/>
          <a:lstStyle/>
          <a:p>
            <a:r>
              <a:rPr lang="zh-CN" altLang="en-US" dirty="0" smtClean="0"/>
              <a:t>能力目标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181606" y="2583022"/>
            <a:ext cx="7010394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掌握</a:t>
            </a:r>
            <a:r>
              <a:rPr lang="en-US" altLang="zh-CN" sz="2800" dirty="0">
                <a:solidFill>
                  <a:schemeClr val="bg1"/>
                </a:solidFill>
                <a:latin typeface="+mn-ea"/>
                <a:ea typeface="+mn-ea"/>
              </a:rPr>
              <a:t>Compose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编排工具的使用方法。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掌握</a:t>
            </a:r>
            <a:r>
              <a:rPr lang="en-US" altLang="zh-CN" sz="2800" dirty="0">
                <a:solidFill>
                  <a:schemeClr val="bg1"/>
                </a:solidFill>
                <a:latin typeface="+mn-ea"/>
                <a:ea typeface="+mn-ea"/>
              </a:rPr>
              <a:t>Swarm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编排工具的使用方法</a:t>
            </a:r>
            <a:endParaRPr lang="zh-CN" altLang="zh-CN" sz="2800" kern="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65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Compose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编排工具的使用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426483" cy="1645402"/>
            <a:chOff x="2638525" y="3259707"/>
            <a:chExt cx="6426483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4828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Swarm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编排工具的使用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62813" y="4043423"/>
            <a:ext cx="2452723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编排工具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23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 algn="just" fontAlgn="ctr">
              <a:lnSpc>
                <a:spcPct val="150000"/>
              </a:lnSpc>
            </a:pPr>
            <a:r>
              <a:rPr lang="zh-CN" altLang="zh-CN" sz="2800" dirty="0">
                <a:latin typeface="+mn-ea"/>
                <a:ea typeface="+mn-ea"/>
              </a:rPr>
              <a:t>工程师小王在对</a:t>
            </a:r>
            <a:r>
              <a:rPr lang="en-US" altLang="zh-CN" sz="2800" dirty="0" err="1">
                <a:latin typeface="+mn-ea"/>
                <a:ea typeface="+mn-ea"/>
              </a:rPr>
              <a:t>Docker</a:t>
            </a:r>
            <a:r>
              <a:rPr lang="zh-CN" altLang="zh-CN" sz="2800" dirty="0">
                <a:latin typeface="+mn-ea"/>
                <a:ea typeface="+mn-ea"/>
              </a:rPr>
              <a:t>技术进行学习后，发现当有大量</a:t>
            </a:r>
            <a:r>
              <a:rPr lang="en-US" altLang="zh-CN" sz="2800" dirty="0" err="1">
                <a:latin typeface="+mn-ea"/>
                <a:ea typeface="+mn-ea"/>
              </a:rPr>
              <a:t>Docker</a:t>
            </a:r>
            <a:r>
              <a:rPr lang="zh-CN" altLang="zh-CN" sz="2800" dirty="0">
                <a:latin typeface="+mn-ea"/>
                <a:ea typeface="+mn-ea"/>
              </a:rPr>
              <a:t>容器需要手动部署时效率较低，通过查阅相关资料，小王发现可利用</a:t>
            </a:r>
            <a:r>
              <a:rPr lang="en-US" altLang="zh-CN" sz="2800" dirty="0">
                <a:latin typeface="+mn-ea"/>
                <a:ea typeface="+mn-ea"/>
              </a:rPr>
              <a:t>Compose</a:t>
            </a:r>
            <a:r>
              <a:rPr lang="zh-CN" altLang="zh-CN" sz="2800" dirty="0">
                <a:latin typeface="+mn-ea"/>
                <a:ea typeface="+mn-ea"/>
              </a:rPr>
              <a:t>工具来更高效地部署容器，于是公司安排小王编写</a:t>
            </a:r>
            <a:r>
              <a:rPr lang="en-US" altLang="zh-CN" sz="2800" dirty="0">
                <a:latin typeface="+mn-ea"/>
                <a:ea typeface="+mn-ea"/>
              </a:rPr>
              <a:t>Compose</a:t>
            </a:r>
            <a:r>
              <a:rPr lang="zh-CN" altLang="zh-CN" sz="2800" dirty="0">
                <a:latin typeface="+mn-ea"/>
                <a:ea typeface="+mn-ea"/>
              </a:rPr>
              <a:t>工具的安装及使用手册，以供公司相关技术人员学习，并在公司内部推广该技术。</a:t>
            </a:r>
            <a:endParaRPr lang="en-US" altLang="zh-CN" sz="2800" dirty="0" smtClean="0">
              <a:latin typeface="+mn-ea"/>
              <a:ea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27367" cy="1532727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任务要求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7208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5.1.1 Compose</a:t>
            </a:r>
            <a:r>
              <a:rPr lang="zh-CN" altLang="en-US" sz="2400" dirty="0" smtClean="0">
                <a:latin typeface="+mn-ea"/>
                <a:ea typeface="+mn-ea"/>
              </a:rPr>
              <a:t>工具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微服务架构的应用系统通常包括若干个微服务，每个微服务又会部署多个实例，如果每个微服务都要手动启停，则会带来效率低、维护量大的问题。而使用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工具可以轻松、高效地管理容器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官方的开源项目，定位是“定义和运行多个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容器应用的工具”，其前身是</a:t>
            </a:r>
            <a:r>
              <a:rPr lang="en-US" altLang="zh-CN" sz="2400" dirty="0">
                <a:latin typeface="+mn-ea"/>
                <a:ea typeface="+mn-ea"/>
              </a:rPr>
              <a:t>Fig</a:t>
            </a:r>
            <a:r>
              <a:rPr lang="zh-CN" altLang="zh-CN" sz="2400" dirty="0">
                <a:latin typeface="+mn-ea"/>
                <a:ea typeface="+mn-ea"/>
              </a:rPr>
              <a:t>，负责实现对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容器集群的快速编排。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通过</a:t>
            </a:r>
            <a:r>
              <a:rPr lang="en-US" altLang="zh-CN" sz="2400" dirty="0">
                <a:latin typeface="+mn-ea"/>
                <a:ea typeface="+mn-ea"/>
              </a:rPr>
              <a:t>YMAL</a:t>
            </a:r>
            <a:r>
              <a:rPr lang="zh-CN" altLang="zh-CN" sz="2400" dirty="0">
                <a:latin typeface="+mn-ea"/>
                <a:ea typeface="+mn-ea"/>
              </a:rPr>
              <a:t>配置文件来创建和运行所有服务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使用的模板文件是一个</a:t>
            </a:r>
            <a:r>
              <a:rPr lang="en-US" altLang="zh-CN" sz="2400" dirty="0">
                <a:latin typeface="+mn-ea"/>
                <a:ea typeface="+mn-ea"/>
              </a:rPr>
              <a:t>YAML</a:t>
            </a:r>
            <a:r>
              <a:rPr lang="zh-CN" altLang="zh-CN" sz="2400" dirty="0">
                <a:latin typeface="+mn-ea"/>
                <a:ea typeface="+mn-ea"/>
              </a:rPr>
              <a:t>格式文件，它允许用户通过一个</a:t>
            </a:r>
            <a:r>
              <a:rPr lang="en-US" altLang="zh-CN" sz="2400" dirty="0" err="1">
                <a:latin typeface="+mn-ea"/>
                <a:ea typeface="+mn-ea"/>
              </a:rPr>
              <a:t>docker-compose.yml</a:t>
            </a:r>
            <a:r>
              <a:rPr lang="zh-CN" altLang="zh-CN" sz="2400" dirty="0">
                <a:latin typeface="+mn-ea"/>
                <a:ea typeface="+mn-ea"/>
              </a:rPr>
              <a:t>模板文件来定义一组相关联的应用容器为一个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zh-CN" sz="2400" dirty="0">
                <a:latin typeface="+mn-ea"/>
                <a:ea typeface="+mn-ea"/>
              </a:rPr>
              <a:t>项目。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751809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099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8394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Compose</a:t>
            </a:r>
            <a:r>
              <a:rPr lang="zh-CN" altLang="zh-CN" sz="2400" dirty="0">
                <a:latin typeface="+mj-ea"/>
                <a:ea typeface="+mj-ea"/>
              </a:rPr>
              <a:t>有以下两个重要概念。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j-ea"/>
                <a:ea typeface="+mj-ea"/>
              </a:rPr>
              <a:t>（</a:t>
            </a:r>
            <a:r>
              <a:rPr lang="en-US" altLang="zh-CN" sz="2400" dirty="0">
                <a:latin typeface="+mj-ea"/>
                <a:ea typeface="+mj-ea"/>
              </a:rPr>
              <a:t>1</a:t>
            </a:r>
            <a:r>
              <a:rPr lang="zh-CN" altLang="zh-CN" sz="2400" dirty="0">
                <a:latin typeface="+mj-ea"/>
                <a:ea typeface="+mj-ea"/>
              </a:rPr>
              <a:t>）服务（</a:t>
            </a:r>
            <a:r>
              <a:rPr lang="en-US" altLang="zh-CN" sz="2400" dirty="0">
                <a:latin typeface="+mj-ea"/>
                <a:ea typeface="+mj-ea"/>
              </a:rPr>
              <a:t>Service</a:t>
            </a:r>
            <a:r>
              <a:rPr lang="zh-CN" altLang="zh-CN" sz="2400" dirty="0">
                <a:latin typeface="+mj-ea"/>
                <a:ea typeface="+mj-ea"/>
              </a:rPr>
              <a:t>）：一个应用的容器，实际上可以包括若干运行相同镜像的容器实例。每个服务都有自己的名称、使用的镜像、挂载的数据卷、所属的网络、依赖的服务等。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j-ea"/>
                <a:ea typeface="+mj-ea"/>
              </a:rPr>
              <a:t>（</a:t>
            </a:r>
            <a:r>
              <a:rPr lang="en-US" altLang="zh-CN" sz="2400" dirty="0">
                <a:latin typeface="+mj-ea"/>
                <a:ea typeface="+mj-ea"/>
              </a:rPr>
              <a:t>2</a:t>
            </a:r>
            <a:r>
              <a:rPr lang="zh-CN" altLang="zh-CN" sz="2400" dirty="0">
                <a:latin typeface="+mj-ea"/>
                <a:ea typeface="+mj-ea"/>
              </a:rPr>
              <a:t>）项目（</a:t>
            </a:r>
            <a:r>
              <a:rPr lang="en-US" altLang="zh-CN" sz="2400" dirty="0">
                <a:latin typeface="+mj-ea"/>
                <a:ea typeface="+mj-ea"/>
              </a:rPr>
              <a:t>Project</a:t>
            </a:r>
            <a:r>
              <a:rPr lang="zh-CN" altLang="zh-CN" sz="2400" dirty="0">
                <a:latin typeface="+mj-ea"/>
                <a:ea typeface="+mj-ea"/>
              </a:rPr>
              <a:t>）：由一组关联的应用容器组成的一个完整业务单元，在</a:t>
            </a:r>
            <a:r>
              <a:rPr lang="en-US" altLang="zh-CN" sz="2400" dirty="0" err="1">
                <a:latin typeface="+mj-ea"/>
                <a:ea typeface="+mj-ea"/>
              </a:rPr>
              <a:t>docker</a:t>
            </a:r>
            <a:r>
              <a:rPr lang="en-US" altLang="zh-CN" sz="2400" dirty="0">
                <a:latin typeface="+mj-ea"/>
                <a:ea typeface="+mj-ea"/>
              </a:rPr>
              <a:t>- </a:t>
            </a:r>
            <a:r>
              <a:rPr lang="en-US" altLang="zh-CN" sz="2400" dirty="0" err="1">
                <a:latin typeface="+mj-ea"/>
                <a:ea typeface="+mj-ea"/>
              </a:rPr>
              <a:t>compose.yml</a:t>
            </a:r>
            <a:r>
              <a:rPr lang="zh-CN" altLang="zh-CN" sz="2400" dirty="0">
                <a:latin typeface="+mj-ea"/>
                <a:ea typeface="+mj-ea"/>
              </a:rPr>
              <a:t>中定义，即</a:t>
            </a:r>
            <a:r>
              <a:rPr lang="en-US" altLang="zh-CN" sz="2400" dirty="0">
                <a:latin typeface="+mj-ea"/>
                <a:ea typeface="+mj-ea"/>
              </a:rPr>
              <a:t>Compose</a:t>
            </a:r>
            <a:r>
              <a:rPr lang="zh-CN" altLang="zh-CN" sz="2400" dirty="0">
                <a:latin typeface="+mj-ea"/>
                <a:ea typeface="+mj-ea"/>
              </a:rPr>
              <a:t>的一个配置文件可以解析为一个项目，</a:t>
            </a:r>
            <a:r>
              <a:rPr lang="en-US" altLang="zh-CN" sz="2400" dirty="0">
                <a:latin typeface="+mj-ea"/>
                <a:ea typeface="+mj-ea"/>
              </a:rPr>
              <a:t>Compose</a:t>
            </a:r>
            <a:r>
              <a:rPr lang="zh-CN" altLang="zh-CN" sz="2400" dirty="0">
                <a:latin typeface="+mj-ea"/>
                <a:ea typeface="+mj-ea"/>
              </a:rPr>
              <a:t>通过分析指定配置文件，得出配置文件所需完成的所有容器管理与部署</a:t>
            </a:r>
            <a:r>
              <a:rPr lang="zh-CN" altLang="zh-CN" sz="2400" dirty="0" smtClean="0">
                <a:latin typeface="+mj-ea"/>
                <a:ea typeface="+mj-ea"/>
              </a:rPr>
              <a:t>操作</a:t>
            </a:r>
            <a:endParaRPr lang="zh-CN" altLang="zh-CN" sz="2400" dirty="0">
              <a:latin typeface="+mj-ea"/>
              <a:ea typeface="+mj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Compose</a:t>
            </a:r>
            <a:r>
              <a:rPr lang="zh-CN" altLang="zh-CN" sz="2400" dirty="0">
                <a:latin typeface="+mj-ea"/>
                <a:ea typeface="+mj-ea"/>
              </a:rPr>
              <a:t>的默认管理对象是项目，通过子命令对项目中的一组容器进行便捷的生命周期管理。</a:t>
            </a: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20665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98693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5.1.2 Compose</a:t>
            </a:r>
            <a:r>
              <a:rPr lang="zh-CN" altLang="en-US" sz="2400" dirty="0" smtClean="0">
                <a:latin typeface="+mn-ea"/>
                <a:ea typeface="+mn-ea"/>
              </a:rPr>
              <a:t>的常用命令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的常用命令常跟在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</a:t>
            </a:r>
            <a:r>
              <a:rPr lang="zh-CN" altLang="zh-CN" sz="2400" dirty="0">
                <a:latin typeface="+mn-ea"/>
                <a:ea typeface="+mn-ea"/>
              </a:rPr>
              <a:t>主命令后面。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</a:t>
            </a:r>
            <a:r>
              <a:rPr lang="zh-CN" altLang="zh-CN" sz="2400" dirty="0">
                <a:latin typeface="+mn-ea"/>
                <a:ea typeface="+mn-ea"/>
              </a:rPr>
              <a:t>主命令的格式如下。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docker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-compose [-f &lt;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arg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&gt;...] [options] [COMMAND] [ARGS...]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 indent="4572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-f</a:t>
            </a:r>
            <a:r>
              <a:rPr lang="zh-CN" altLang="zh-CN" sz="2400" dirty="0">
                <a:latin typeface="+mn-ea"/>
                <a:ea typeface="+mn-ea"/>
              </a:rPr>
              <a:t>：指定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配置文件，默认为</a:t>
            </a:r>
            <a:r>
              <a:rPr lang="en-US" altLang="zh-CN" sz="2400" dirty="0" err="1">
                <a:latin typeface="+mn-ea"/>
                <a:ea typeface="+mn-ea"/>
              </a:rPr>
              <a:t>docker-compose.yml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4572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-p</a:t>
            </a:r>
            <a:r>
              <a:rPr lang="zh-CN" altLang="zh-CN" sz="2400" dirty="0">
                <a:latin typeface="+mn-ea"/>
                <a:ea typeface="+mn-ea"/>
              </a:rPr>
              <a:t>：指定项目名称，默认为目录名。</a:t>
            </a:r>
          </a:p>
          <a:p>
            <a:pPr indent="4572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--verbose</a:t>
            </a:r>
            <a:r>
              <a:rPr lang="zh-CN" altLang="zh-CN" sz="2400" dirty="0">
                <a:latin typeface="+mn-ea"/>
                <a:ea typeface="+mn-ea"/>
              </a:rPr>
              <a:t>：显示更多的输出。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5240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．列出容器</a:t>
            </a: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ps</a:t>
            </a:r>
            <a:r>
              <a:rPr lang="zh-CN" altLang="en-US" sz="2400" dirty="0">
                <a:latin typeface="+mn-ea"/>
                <a:ea typeface="+mn-ea"/>
              </a:rPr>
              <a:t>命令用于列出所有运行的容器，其命令格式如下</a:t>
            </a:r>
            <a:r>
              <a:rPr lang="zh-CN" altLang="en-US" sz="2400" dirty="0" smtClean="0">
                <a:latin typeface="+mn-ea"/>
                <a:ea typeface="+mn-ea"/>
              </a:rPr>
              <a:t>。</a:t>
            </a:r>
          </a:p>
          <a:p>
            <a:pPr lvl="1" algn="just" fontAlgn="ctr">
              <a:lnSpc>
                <a:spcPct val="150000"/>
              </a:lnSpc>
            </a:pPr>
            <a:r>
              <a:rPr lang="en-US" altLang="zh-CN" sz="2400" dirty="0" err="1" smtClean="0">
                <a:solidFill>
                  <a:srgbClr val="FF0000"/>
                </a:solidFill>
                <a:latin typeface="+mn-ea"/>
                <a:ea typeface="+mn-ea"/>
              </a:rPr>
              <a:t>ps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 [options] [SERVICE...]</a:t>
            </a: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其</a:t>
            </a:r>
            <a:r>
              <a:rPr lang="zh-CN" altLang="en-US" sz="2400" dirty="0">
                <a:latin typeface="+mn-ea"/>
                <a:ea typeface="+mn-ea"/>
              </a:rPr>
              <a:t>常用选项说明如下。</a:t>
            </a: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-q</a:t>
            </a:r>
            <a:r>
              <a:rPr lang="zh-CN" altLang="en-US" sz="2400" dirty="0">
                <a:latin typeface="+mn-ea"/>
                <a:ea typeface="+mn-ea"/>
              </a:rPr>
              <a:t>：只显示</a:t>
            </a:r>
            <a:r>
              <a:rPr lang="en-US" altLang="zh-CN" sz="2400" dirty="0">
                <a:latin typeface="+mn-ea"/>
                <a:ea typeface="+mn-ea"/>
              </a:rPr>
              <a:t>ID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例如，列出所有运行容器的代码如下。</a:t>
            </a: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</a:t>
            </a:r>
            <a:r>
              <a:rPr lang="en-US" altLang="zh-CN" sz="2400" dirty="0" err="1">
                <a:latin typeface="+mn-ea"/>
                <a:ea typeface="+mn-ea"/>
              </a:rPr>
              <a:t>ps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4985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．查看服务日志输出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logs</a:t>
            </a:r>
            <a:r>
              <a:rPr lang="zh-CN" altLang="zh-CN" sz="2400" dirty="0">
                <a:latin typeface="+mn-ea"/>
                <a:ea typeface="+mn-ea"/>
              </a:rPr>
              <a:t>命令用于查看服务日志输出，其命令格式如下。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logs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-f, --follow</a:t>
            </a:r>
            <a:r>
              <a:rPr lang="zh-CN" altLang="zh-CN" sz="2400" dirty="0">
                <a:latin typeface="+mn-ea"/>
                <a:ea typeface="+mn-ea"/>
              </a:rPr>
              <a:t>：实时输出日志。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-t, --timestamps</a:t>
            </a:r>
            <a:r>
              <a:rPr lang="zh-CN" altLang="zh-CN" sz="2400" dirty="0">
                <a:latin typeface="+mn-ea"/>
                <a:ea typeface="+mn-ea"/>
              </a:rPr>
              <a:t>：显示时间戳。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--tail="all"</a:t>
            </a:r>
            <a:r>
              <a:rPr lang="zh-CN" altLang="zh-CN" sz="2400" dirty="0">
                <a:latin typeface="+mn-ea"/>
                <a:ea typeface="+mn-ea"/>
              </a:rPr>
              <a:t>：从日志末尾显示行。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例如，查看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的实时日志的代码如下。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logs -f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7142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．输出绑定的公共端口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port</a:t>
            </a:r>
            <a:r>
              <a:rPr lang="zh-CN" altLang="zh-CN" sz="2400" dirty="0">
                <a:latin typeface="+mn-ea"/>
                <a:ea typeface="+mn-ea"/>
              </a:rPr>
              <a:t>命令用于输出绑定的公共端口，其命令格式如下。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port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SERVICE PRIVATE_PORT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--protocol=proto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TCP</a:t>
            </a:r>
            <a:r>
              <a:rPr lang="zh-CN" altLang="zh-CN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UDP</a:t>
            </a:r>
            <a:r>
              <a:rPr lang="zh-CN" altLang="zh-CN" sz="2400" dirty="0">
                <a:latin typeface="+mn-ea"/>
                <a:ea typeface="+mn-ea"/>
              </a:rPr>
              <a:t>，默认为</a:t>
            </a:r>
            <a:r>
              <a:rPr lang="en-US" altLang="zh-CN" sz="2400" dirty="0">
                <a:latin typeface="+mn-ea"/>
                <a:ea typeface="+mn-ea"/>
              </a:rPr>
              <a:t>TCP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--index=index</a:t>
            </a:r>
            <a:r>
              <a:rPr lang="zh-CN" altLang="zh-CN" sz="2400" dirty="0">
                <a:latin typeface="+mn-ea"/>
                <a:ea typeface="+mn-ea"/>
              </a:rPr>
              <a:t>：多个容器时的索引数字，默认为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例如，输出</a:t>
            </a:r>
            <a:r>
              <a:rPr lang="en-US" altLang="zh-CN" sz="2400" dirty="0">
                <a:latin typeface="+mn-ea"/>
                <a:ea typeface="+mn-ea"/>
              </a:rPr>
              <a:t> eureka </a:t>
            </a:r>
            <a:r>
              <a:rPr lang="zh-CN" altLang="zh-CN" sz="2400" dirty="0">
                <a:latin typeface="+mn-ea"/>
                <a:ea typeface="+mn-ea"/>
              </a:rPr>
              <a:t>服务</a:t>
            </a:r>
            <a:r>
              <a:rPr lang="en-US" altLang="zh-CN" sz="2400" dirty="0">
                <a:latin typeface="+mn-ea"/>
                <a:ea typeface="+mn-ea"/>
              </a:rPr>
              <a:t> 8761 </a:t>
            </a:r>
            <a:r>
              <a:rPr lang="zh-CN" altLang="zh-CN" sz="2400" dirty="0">
                <a:latin typeface="+mn-ea"/>
                <a:ea typeface="+mn-ea"/>
              </a:rPr>
              <a:t>端口所绑定的公共端口，其代码如下。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port eureka 8761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5260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．重新构建服务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build</a:t>
            </a:r>
            <a:r>
              <a:rPr lang="zh-CN" altLang="zh-CN" sz="2400" dirty="0">
                <a:latin typeface="+mn-ea"/>
                <a:ea typeface="+mn-ea"/>
              </a:rPr>
              <a:t>命令用于构建或重新构建服务，其命令格式如下。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build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[--build-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arg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key=val...] 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--no-cache</a:t>
            </a:r>
            <a:r>
              <a:rPr lang="zh-CN" altLang="zh-CN" sz="2400" dirty="0">
                <a:latin typeface="+mn-ea"/>
                <a:ea typeface="+mn-ea"/>
              </a:rPr>
              <a:t>：不使用缓存构建镜像。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--build-</a:t>
            </a:r>
            <a:r>
              <a:rPr lang="en-US" altLang="zh-CN" sz="2400" dirty="0" err="1">
                <a:latin typeface="+mn-ea"/>
                <a:ea typeface="+mn-ea"/>
              </a:rPr>
              <a:t>arg</a:t>
            </a:r>
            <a:r>
              <a:rPr lang="en-US" altLang="zh-CN" sz="2400" dirty="0">
                <a:latin typeface="+mn-ea"/>
                <a:ea typeface="+mn-ea"/>
              </a:rPr>
              <a:t> key=</a:t>
            </a:r>
            <a:r>
              <a:rPr lang="en-US" altLang="zh-CN" sz="2400" dirty="0" err="1">
                <a:latin typeface="+mn-ea"/>
                <a:ea typeface="+mn-ea"/>
              </a:rPr>
              <a:t>val</a:t>
            </a:r>
            <a:r>
              <a:rPr lang="zh-CN" altLang="zh-CN" sz="2400" dirty="0">
                <a:latin typeface="+mn-ea"/>
                <a:ea typeface="+mn-ea"/>
              </a:rPr>
              <a:t>：设置构建时变量。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例如，构建镜像的代码如下。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build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4513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．启动服务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start</a:t>
            </a:r>
            <a:r>
              <a:rPr lang="zh-CN" altLang="zh-CN" sz="2400" dirty="0">
                <a:latin typeface="+mn-ea"/>
                <a:ea typeface="+mn-ea"/>
              </a:rPr>
              <a:t>命令用于启动指定服务已存在的容器，其命令格式如下。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start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例如，启动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容器的代码如下。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start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8186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．停止服务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stop</a:t>
            </a:r>
            <a:r>
              <a:rPr lang="zh-CN" altLang="zh-CN" sz="2400" dirty="0">
                <a:latin typeface="+mn-ea"/>
                <a:ea typeface="+mn-ea"/>
              </a:rPr>
              <a:t>命令用于停止已运行服务的容器，其命令格式如下。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stop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例如，停止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容器的代码如下。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stop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0048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．删除已停止服务的容器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zh-CN" altLang="zh-CN" sz="2400" dirty="0">
                <a:latin typeface="+mn-ea"/>
                <a:ea typeface="+mn-ea"/>
              </a:rPr>
              <a:t>命令用于删除指定服务的容器，其命令格式如下。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err="1" smtClean="0">
                <a:solidFill>
                  <a:srgbClr val="FF0000"/>
                </a:solidFill>
                <a:latin typeface="+mn-ea"/>
                <a:ea typeface="+mn-ea"/>
              </a:rPr>
              <a:t>rm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-f, --force</a:t>
            </a:r>
            <a:r>
              <a:rPr lang="zh-CN" altLang="zh-CN" sz="2400" dirty="0">
                <a:latin typeface="+mn-ea"/>
                <a:ea typeface="+mn-ea"/>
              </a:rPr>
              <a:t>：强制删除。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-s, --stop</a:t>
            </a:r>
            <a:r>
              <a:rPr lang="zh-CN" altLang="zh-CN" sz="2400" dirty="0">
                <a:latin typeface="+mn-ea"/>
                <a:ea typeface="+mn-ea"/>
              </a:rPr>
              <a:t>：删除容器时需要先停止容器。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-v</a:t>
            </a:r>
            <a:r>
              <a:rPr lang="zh-CN" altLang="zh-CN" sz="2400" dirty="0">
                <a:latin typeface="+mn-ea"/>
                <a:ea typeface="+mn-ea"/>
              </a:rPr>
              <a:t>：删除与容器相关的任何匿名卷。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例如，删除已停止的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容器的代码如下。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</a:t>
            </a: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4468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8</a:t>
            </a:r>
            <a:r>
              <a:rPr lang="zh-CN" altLang="zh-CN" sz="2400" dirty="0">
                <a:latin typeface="+mn-ea"/>
                <a:ea typeface="+mn-ea"/>
              </a:rPr>
              <a:t>．创建和启动容器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up</a:t>
            </a:r>
            <a:r>
              <a:rPr lang="zh-CN" altLang="zh-CN" sz="2400" dirty="0">
                <a:latin typeface="+mn-ea"/>
                <a:ea typeface="+mn-ea"/>
              </a:rPr>
              <a:t>命令用于创建和启动容器，其命令格式如下。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up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[--scale SERVICE=NUM...] [SERVICE...]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-d</a:t>
            </a:r>
            <a:r>
              <a:rPr lang="zh-CN" altLang="zh-CN" sz="2400" dirty="0">
                <a:latin typeface="+mn-ea"/>
                <a:ea typeface="+mn-ea"/>
              </a:rPr>
              <a:t>：在后台运行容器。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-t</a:t>
            </a:r>
            <a:r>
              <a:rPr lang="zh-CN" altLang="zh-CN" sz="2400" dirty="0">
                <a:latin typeface="+mn-ea"/>
                <a:ea typeface="+mn-ea"/>
              </a:rPr>
              <a:t>：指定超时时间。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-no-</a:t>
            </a:r>
            <a:r>
              <a:rPr lang="en-US" altLang="zh-CN" sz="2400" dirty="0" err="1">
                <a:latin typeface="+mn-ea"/>
                <a:ea typeface="+mn-ea"/>
              </a:rPr>
              <a:t>deps</a:t>
            </a:r>
            <a:r>
              <a:rPr lang="zh-CN" altLang="zh-CN" sz="2400" dirty="0">
                <a:latin typeface="+mn-ea"/>
                <a:ea typeface="+mn-ea"/>
              </a:rPr>
              <a:t>：不启动连接服务。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--no-recreate</a:t>
            </a:r>
            <a:r>
              <a:rPr lang="zh-CN" altLang="zh-CN" sz="2400" dirty="0">
                <a:latin typeface="+mn-ea"/>
                <a:ea typeface="+mn-ea"/>
              </a:rPr>
              <a:t>：如果容器存在，则不重建容器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1759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--no-build</a:t>
            </a:r>
            <a:r>
              <a:rPr lang="zh-CN" altLang="zh-CN" sz="2400" dirty="0">
                <a:latin typeface="+mn-ea"/>
                <a:ea typeface="+mn-ea"/>
              </a:rPr>
              <a:t>：不构建镜像，即使其会丢失。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--build</a:t>
            </a:r>
            <a:r>
              <a:rPr lang="zh-CN" altLang="zh-CN" sz="2400" dirty="0">
                <a:latin typeface="+mn-ea"/>
                <a:ea typeface="+mn-ea"/>
              </a:rPr>
              <a:t>：启动容器并构建镜像。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--scale SERVICE=NUM</a:t>
            </a:r>
            <a:r>
              <a:rPr lang="zh-CN" altLang="zh-CN" sz="2400" dirty="0">
                <a:latin typeface="+mn-ea"/>
                <a:ea typeface="+mn-ea"/>
              </a:rPr>
              <a:t>：指定一个服务（容器）的启动数量。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例如，创建并启动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容器的代码如下。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up -d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639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9</a:t>
            </a:r>
            <a:r>
              <a:rPr lang="zh-CN" altLang="zh-CN" sz="2400" dirty="0">
                <a:latin typeface="+mn-ea"/>
                <a:ea typeface="+mn-ea"/>
              </a:rPr>
              <a:t>．在运行的容器中执行命令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exec</a:t>
            </a:r>
            <a:r>
              <a:rPr lang="zh-CN" altLang="zh-CN" sz="2400" dirty="0">
                <a:latin typeface="+mn-ea"/>
                <a:ea typeface="+mn-ea"/>
              </a:rPr>
              <a:t>命令用于在支持的容器中执行命令，其命令格式如下。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exec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SERVICE COMMAND [ARGS...]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其常用选项说明如下。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-d</a:t>
            </a:r>
            <a:r>
              <a:rPr lang="zh-CN" altLang="zh-CN" sz="2400" dirty="0">
                <a:latin typeface="+mn-ea"/>
                <a:ea typeface="+mn-ea"/>
              </a:rPr>
              <a:t>：在后台运行命令。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--privileged</a:t>
            </a:r>
            <a:r>
              <a:rPr lang="zh-CN" altLang="zh-CN" sz="2400" dirty="0">
                <a:latin typeface="+mn-ea"/>
                <a:ea typeface="+mn-ea"/>
              </a:rPr>
              <a:t>：给这个进程赋予特殊权限。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-u, --user </a:t>
            </a:r>
            <a:r>
              <a:rPr lang="en-US" altLang="zh-CN" sz="2400" dirty="0" err="1">
                <a:latin typeface="+mn-ea"/>
                <a:ea typeface="+mn-ea"/>
              </a:rPr>
              <a:t>USER</a:t>
            </a:r>
            <a:r>
              <a:rPr lang="zh-CN" altLang="zh-CN" sz="2400" dirty="0">
                <a:latin typeface="+mn-ea"/>
                <a:ea typeface="+mn-ea"/>
              </a:rPr>
              <a:t>：作为该用户运行该命令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3038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-T</a:t>
            </a:r>
            <a:r>
              <a:rPr lang="zh-CN" altLang="zh-CN" sz="2400" dirty="0">
                <a:latin typeface="+mn-ea"/>
                <a:ea typeface="+mn-ea"/>
              </a:rPr>
              <a:t>：禁用分配伪终端，默认分配一个终端。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--index=index</a:t>
            </a:r>
            <a:r>
              <a:rPr lang="zh-CN" altLang="zh-CN" sz="2400" dirty="0">
                <a:latin typeface="+mn-ea"/>
                <a:ea typeface="+mn-ea"/>
              </a:rPr>
              <a:t>：多个容器时的索引数字，默认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例如，登录到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容器中的代码如下。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exec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en-US" altLang="zh-CN" sz="2400" dirty="0">
                <a:latin typeface="+mn-ea"/>
                <a:ea typeface="+mn-ea"/>
              </a:rPr>
              <a:t> bash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5934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10</a:t>
            </a:r>
            <a:r>
              <a:rPr lang="zh-CN" altLang="zh-CN" sz="2400" dirty="0">
                <a:latin typeface="+mn-ea"/>
                <a:ea typeface="+mn-ea"/>
              </a:rPr>
              <a:t>．指定一个服务启动容器的个数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scale</a:t>
            </a:r>
            <a:r>
              <a:rPr lang="zh-CN" altLang="zh-CN" sz="2400" dirty="0">
                <a:latin typeface="+mn-ea"/>
                <a:ea typeface="+mn-ea"/>
              </a:rPr>
              <a:t>命令用于指定服务启动容器的个数，其命令格式如下。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scale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[options] [SERVICE=NUM...]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例如，设置指定服务运行容器的个数，以</a:t>
            </a:r>
            <a:r>
              <a:rPr lang="en-US" altLang="zh-CN" sz="2400" dirty="0">
                <a:latin typeface="+mn-ea"/>
                <a:ea typeface="+mn-ea"/>
              </a:rPr>
              <a:t>service=</a:t>
            </a:r>
            <a:r>
              <a:rPr lang="en-US" altLang="zh-CN" sz="2400" dirty="0" err="1">
                <a:latin typeface="+mn-ea"/>
                <a:ea typeface="+mn-ea"/>
              </a:rPr>
              <a:t>num</a:t>
            </a:r>
            <a:r>
              <a:rPr lang="zh-CN" altLang="zh-CN" sz="2400" dirty="0">
                <a:latin typeface="+mn-ea"/>
                <a:ea typeface="+mn-ea"/>
              </a:rPr>
              <a:t>的形式指定。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-compose scale user=3 movie=3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851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11</a:t>
            </a:r>
            <a:r>
              <a:rPr lang="zh-CN" altLang="zh-CN" sz="2400" dirty="0">
                <a:latin typeface="+mn-ea"/>
                <a:ea typeface="+mn-ea"/>
              </a:rPr>
              <a:t>．其他管理命令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1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restart</a:t>
            </a:r>
            <a:r>
              <a:rPr lang="zh-CN" altLang="zh-CN" sz="2200" dirty="0">
                <a:latin typeface="+mn-ea"/>
                <a:ea typeface="+mn-ea"/>
              </a:rPr>
              <a:t>命令用于重启服务。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2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kill</a:t>
            </a:r>
            <a:r>
              <a:rPr lang="zh-CN" altLang="zh-CN" sz="2200" dirty="0">
                <a:latin typeface="+mn-ea"/>
                <a:ea typeface="+mn-ea"/>
              </a:rPr>
              <a:t>命令通过发送</a:t>
            </a:r>
            <a:r>
              <a:rPr lang="en-US" altLang="zh-CN" sz="2200" dirty="0">
                <a:latin typeface="+mn-ea"/>
                <a:ea typeface="+mn-ea"/>
              </a:rPr>
              <a:t>SIGKILL</a:t>
            </a:r>
            <a:r>
              <a:rPr lang="zh-CN" altLang="zh-CN" sz="2200" dirty="0">
                <a:latin typeface="+mn-ea"/>
                <a:ea typeface="+mn-ea"/>
              </a:rPr>
              <a:t>信号来停止指定服务的容器。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3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pause</a:t>
            </a:r>
            <a:r>
              <a:rPr lang="zh-CN" altLang="zh-CN" sz="2200" dirty="0">
                <a:latin typeface="+mn-ea"/>
                <a:ea typeface="+mn-ea"/>
              </a:rPr>
              <a:t>命令用于挂起容器。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4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image</a:t>
            </a:r>
            <a:r>
              <a:rPr lang="zh-CN" altLang="zh-CN" sz="2200" dirty="0">
                <a:latin typeface="+mn-ea"/>
                <a:ea typeface="+mn-ea"/>
              </a:rPr>
              <a:t>命令用于列出本地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的镜像。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5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down</a:t>
            </a:r>
            <a:r>
              <a:rPr lang="zh-CN" altLang="zh-CN" sz="2200" dirty="0">
                <a:latin typeface="+mn-ea"/>
                <a:ea typeface="+mn-ea"/>
              </a:rPr>
              <a:t>命令用于停止容器和删除容器、网络、数据卷及镜像。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6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create</a:t>
            </a:r>
            <a:r>
              <a:rPr lang="zh-CN" altLang="zh-CN" sz="2200" dirty="0">
                <a:latin typeface="+mn-ea"/>
                <a:ea typeface="+mn-ea"/>
              </a:rPr>
              <a:t>命令用于创建一个服务。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7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pull</a:t>
            </a:r>
            <a:r>
              <a:rPr lang="zh-CN" altLang="zh-CN" sz="2200" dirty="0">
                <a:latin typeface="+mn-ea"/>
                <a:ea typeface="+mn-ea"/>
              </a:rPr>
              <a:t>命令用于下载镜像。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8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push</a:t>
            </a:r>
            <a:r>
              <a:rPr lang="zh-CN" altLang="zh-CN" sz="2200" dirty="0">
                <a:latin typeface="+mn-ea"/>
                <a:ea typeface="+mn-ea"/>
              </a:rPr>
              <a:t>命令用于推送镜像。</a:t>
            </a:r>
          </a:p>
          <a:p>
            <a:pPr>
              <a:lnSpc>
                <a:spcPct val="150000"/>
              </a:lnSpc>
            </a:pPr>
            <a:r>
              <a:rPr lang="zh-CN" altLang="zh-CN" sz="2200" dirty="0">
                <a:latin typeface="+mn-ea"/>
                <a:ea typeface="+mn-ea"/>
              </a:rPr>
              <a:t>（</a:t>
            </a:r>
            <a:r>
              <a:rPr lang="en-US" altLang="zh-CN" sz="2200" dirty="0">
                <a:latin typeface="+mn-ea"/>
                <a:ea typeface="+mn-ea"/>
              </a:rPr>
              <a:t>9</a:t>
            </a:r>
            <a:r>
              <a:rPr lang="zh-CN" altLang="zh-CN" sz="2200" dirty="0">
                <a:latin typeface="+mn-ea"/>
                <a:ea typeface="+mn-ea"/>
              </a:rPr>
              <a:t>）</a:t>
            </a:r>
            <a:r>
              <a:rPr lang="en-US" altLang="zh-CN" sz="2200" dirty="0">
                <a:latin typeface="+mn-ea"/>
                <a:ea typeface="+mn-ea"/>
              </a:rPr>
              <a:t>help</a:t>
            </a:r>
            <a:r>
              <a:rPr lang="zh-CN" altLang="zh-CN" sz="2200" dirty="0">
                <a:latin typeface="+mn-ea"/>
                <a:ea typeface="+mn-ea"/>
              </a:rPr>
              <a:t>命令用于查看帮助信息。</a:t>
            </a:r>
            <a:endParaRPr lang="en-US" altLang="zh-CN" sz="22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1094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5.1.3 </a:t>
            </a:r>
            <a:r>
              <a:rPr lang="en-US" altLang="zh-CN" sz="2400" dirty="0" err="1" smtClean="0">
                <a:latin typeface="+mn-ea"/>
                <a:ea typeface="+mn-ea"/>
              </a:rPr>
              <a:t>docker-compose.yml</a:t>
            </a:r>
            <a:r>
              <a:rPr lang="zh-CN" altLang="en-US" sz="2400" dirty="0" smtClean="0">
                <a:latin typeface="+mn-ea"/>
                <a:ea typeface="+mn-ea"/>
              </a:rPr>
              <a:t>文件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457200" algn="just" fontAlgn="ctr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docker-compose.yml</a:t>
            </a:r>
            <a:r>
              <a:rPr lang="zh-CN" altLang="zh-CN" sz="2400" dirty="0">
                <a:latin typeface="+mn-ea"/>
                <a:ea typeface="+mn-ea"/>
              </a:rPr>
              <a:t>文件包含</a:t>
            </a:r>
            <a:r>
              <a:rPr lang="en-US" altLang="zh-CN" sz="2400" dirty="0">
                <a:latin typeface="+mn-ea"/>
                <a:ea typeface="+mn-ea"/>
              </a:rPr>
              <a:t>version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services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networks</a:t>
            </a:r>
            <a:r>
              <a:rPr lang="zh-CN" altLang="zh-CN" sz="2400" dirty="0">
                <a:latin typeface="+mn-ea"/>
                <a:ea typeface="+mn-ea"/>
              </a:rPr>
              <a:t>三部分，其中，</a:t>
            </a:r>
            <a:r>
              <a:rPr lang="en-US" altLang="zh-CN" sz="2400" dirty="0">
                <a:latin typeface="+mn-ea"/>
                <a:ea typeface="+mn-ea"/>
              </a:rPr>
              <a:t>services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networks</a:t>
            </a:r>
            <a:r>
              <a:rPr lang="zh-CN" altLang="zh-CN" sz="2400" dirty="0">
                <a:latin typeface="+mn-ea"/>
                <a:ea typeface="+mn-ea"/>
              </a:rPr>
              <a:t>是关键部分。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3433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常见的</a:t>
            </a:r>
            <a:r>
              <a:rPr lang="en-US" altLang="zh-CN" sz="2400" dirty="0">
                <a:latin typeface="+mn-ea"/>
                <a:ea typeface="+mn-ea"/>
              </a:rPr>
              <a:t>services</a:t>
            </a:r>
            <a:r>
              <a:rPr lang="zh-CN" altLang="zh-CN" sz="2400" dirty="0">
                <a:latin typeface="+mn-ea"/>
                <a:ea typeface="+mn-ea"/>
              </a:rPr>
              <a:t>书写规则如下。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image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image</a:t>
            </a:r>
            <a:r>
              <a:rPr lang="zh-CN" altLang="zh-CN" sz="2400" dirty="0">
                <a:latin typeface="+mn-ea"/>
                <a:ea typeface="+mn-ea"/>
              </a:rPr>
              <a:t>标签用于指定基础镜像。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services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	     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web: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                 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image:nginx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在</a:t>
            </a:r>
            <a:r>
              <a:rPr lang="en-US" altLang="zh-CN" sz="2400" dirty="0">
                <a:latin typeface="+mn-ea"/>
                <a:ea typeface="+mn-ea"/>
              </a:rPr>
              <a:t>services</a:t>
            </a:r>
            <a:r>
              <a:rPr lang="zh-CN" altLang="zh-CN" sz="2400" dirty="0">
                <a:latin typeface="+mn-ea"/>
                <a:ea typeface="+mn-ea"/>
              </a:rPr>
              <a:t>标签下的</a:t>
            </a:r>
            <a:r>
              <a:rPr lang="en-US" altLang="zh-CN" sz="2400" dirty="0">
                <a:latin typeface="+mn-ea"/>
                <a:ea typeface="+mn-ea"/>
              </a:rPr>
              <a:t>web</a:t>
            </a:r>
            <a:r>
              <a:rPr lang="zh-CN" altLang="zh-CN" sz="2400" dirty="0">
                <a:latin typeface="+mn-ea"/>
                <a:ea typeface="+mn-ea"/>
              </a:rPr>
              <a:t>为第二级标签，标签名可由用户自定义，它也是服务名称。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image</a:t>
            </a:r>
            <a:r>
              <a:rPr lang="zh-CN" altLang="zh-CN" sz="2400" dirty="0">
                <a:latin typeface="+mn-ea"/>
                <a:ea typeface="+mn-ea"/>
              </a:rPr>
              <a:t>可以指定服务的镜像名称或镜像</a:t>
            </a:r>
            <a:r>
              <a:rPr lang="en-US" altLang="zh-CN" sz="2400" dirty="0">
                <a:latin typeface="+mn-ea"/>
                <a:ea typeface="+mn-ea"/>
              </a:rPr>
              <a:t>ID</a:t>
            </a:r>
            <a:r>
              <a:rPr lang="zh-CN" altLang="zh-CN" sz="2400" dirty="0">
                <a:latin typeface="+mn-ea"/>
                <a:ea typeface="+mn-ea"/>
              </a:rPr>
              <a:t>，如果镜像在本地不存在，则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会尝试获取这个镜像。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9618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build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build</a:t>
            </a:r>
            <a:r>
              <a:rPr lang="zh-CN" altLang="zh-CN" sz="2400" dirty="0">
                <a:latin typeface="+mn-ea"/>
                <a:ea typeface="+mn-ea"/>
              </a:rPr>
              <a:t>标签用于指定</a:t>
            </a:r>
            <a:r>
              <a:rPr lang="en-US" altLang="zh-CN" sz="2400" dirty="0" err="1">
                <a:latin typeface="+mn-ea"/>
                <a:ea typeface="+mn-ea"/>
              </a:rPr>
              <a:t>Dockerfile</a:t>
            </a:r>
            <a:r>
              <a:rPr lang="zh-CN" altLang="zh-CN" sz="2400" dirty="0">
                <a:latin typeface="+mn-ea"/>
                <a:ea typeface="+mn-ea"/>
              </a:rPr>
              <a:t>所在文件夹的路径。该值可以是一个路径，也可以是一个对象。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zh-CN" sz="2400" dirty="0">
                <a:latin typeface="+mn-ea"/>
                <a:ea typeface="+mn-ea"/>
              </a:rPr>
              <a:t>会利用它自动构建镜像，并使用构建的镜像启动容器。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build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/path/to/build/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dir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也可以使用相对路径，即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build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./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dir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8761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524001"/>
            <a:ext cx="1169572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可以设置上下文根目录，并以该目录指定</a:t>
            </a:r>
            <a:r>
              <a:rPr lang="en-US" altLang="zh-CN" sz="2400" dirty="0" err="1">
                <a:latin typeface="+mn-ea"/>
                <a:ea typeface="+mn-ea"/>
              </a:rPr>
              <a:t>Dockerfile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build: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context: ../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dockerfile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: path/of/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Dockerfile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可指定</a:t>
            </a:r>
            <a:r>
              <a:rPr lang="en-US" altLang="zh-CN" sz="2400" dirty="0" err="1">
                <a:latin typeface="+mn-ea"/>
                <a:ea typeface="+mn-ea"/>
              </a:rPr>
              <a:t>arg</a:t>
            </a:r>
            <a:r>
              <a:rPr lang="zh-CN" altLang="zh-CN" sz="2400" dirty="0">
                <a:latin typeface="+mn-ea"/>
                <a:ea typeface="+mn-ea"/>
              </a:rPr>
              <a:t>标签，与</a:t>
            </a:r>
            <a:r>
              <a:rPr lang="en-US" altLang="zh-CN" sz="2400" dirty="0" err="1">
                <a:latin typeface="+mn-ea"/>
                <a:ea typeface="+mn-ea"/>
              </a:rPr>
              <a:t>Dockerfile</a:t>
            </a:r>
            <a:r>
              <a:rPr lang="zh-CN" altLang="zh-CN" sz="2400" dirty="0">
                <a:latin typeface="+mn-ea"/>
                <a:ea typeface="+mn-ea"/>
              </a:rPr>
              <a:t>中的</a:t>
            </a:r>
            <a:r>
              <a:rPr lang="en-US" altLang="zh-CN" sz="2400" dirty="0">
                <a:latin typeface="+mn-ea"/>
                <a:ea typeface="+mn-ea"/>
              </a:rPr>
              <a:t>ARG</a:t>
            </a:r>
            <a:r>
              <a:rPr lang="zh-CN" altLang="zh-CN" sz="2400" dirty="0">
                <a:latin typeface="+mn-ea"/>
                <a:ea typeface="+mn-ea"/>
              </a:rPr>
              <a:t>指令一样，</a:t>
            </a:r>
            <a:r>
              <a:rPr lang="en-US" altLang="zh-CN" sz="2400" dirty="0" err="1">
                <a:latin typeface="+mn-ea"/>
                <a:ea typeface="+mn-ea"/>
              </a:rPr>
              <a:t>arg</a:t>
            </a:r>
            <a:r>
              <a:rPr lang="zh-CN" altLang="zh-CN" sz="2400" dirty="0">
                <a:latin typeface="+mn-ea"/>
                <a:ea typeface="+mn-ea"/>
              </a:rPr>
              <a:t>标签可以在构建过程中指定环境变量，并在构建成功后取消。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build: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    context: ./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dir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   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dockerfile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Dockerfile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   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args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        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buildno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: 1</a:t>
            </a:r>
            <a:endParaRPr lang="en-US" altLang="zh-CN" sz="20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9394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command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command</a:t>
            </a:r>
            <a:r>
              <a:rPr lang="zh-CN" altLang="zh-CN" sz="2400" dirty="0">
                <a:latin typeface="+mn-ea"/>
                <a:ea typeface="+mn-ea"/>
              </a:rPr>
              <a:t>标签用于覆盖容器启动后默认执行的命令。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command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bundle exec thin -p 3000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也可以写为类似</a:t>
            </a:r>
            <a:r>
              <a:rPr lang="en-US" altLang="zh-CN" sz="2400" dirty="0" err="1">
                <a:latin typeface="+mn-ea"/>
                <a:ea typeface="+mn-ea"/>
              </a:rPr>
              <a:t>Dockerfile</a:t>
            </a:r>
            <a:r>
              <a:rPr lang="zh-CN" altLang="zh-CN" sz="2400" dirty="0">
                <a:latin typeface="+mn-ea"/>
                <a:ea typeface="+mn-ea"/>
              </a:rPr>
              <a:t>中的格式，例如：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command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[bundle, exec, thin, -p, 3000]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4324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dns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dns</a:t>
            </a:r>
            <a:r>
              <a:rPr lang="zh-CN" altLang="zh-CN" sz="2400" dirty="0">
                <a:latin typeface="+mn-ea"/>
                <a:ea typeface="+mn-ea"/>
              </a:rPr>
              <a:t>标签用于配置</a:t>
            </a:r>
            <a:r>
              <a:rPr lang="en-US" altLang="zh-CN" sz="2400" dirty="0">
                <a:latin typeface="+mn-ea"/>
                <a:ea typeface="+mn-ea"/>
              </a:rPr>
              <a:t>DNS</a:t>
            </a:r>
            <a:r>
              <a:rPr lang="zh-CN" altLang="zh-CN" sz="2400" dirty="0">
                <a:latin typeface="+mn-ea"/>
                <a:ea typeface="+mn-ea"/>
              </a:rPr>
              <a:t>服务器，其可以是一个具体值。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err="1" smtClean="0">
                <a:solidFill>
                  <a:srgbClr val="FF0000"/>
                </a:solidFill>
                <a:latin typeface="+mn-ea"/>
                <a:ea typeface="+mn-ea"/>
              </a:rPr>
              <a:t>dns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114.114.114.114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也可以是一个列表。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dns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  - 114.114.114.114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  - 115.115.115.115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12787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标签用于设置镜像变量，与</a:t>
            </a:r>
            <a:r>
              <a:rPr lang="en-US" altLang="zh-CN" sz="2400" dirty="0" err="1">
                <a:latin typeface="+mn-ea"/>
                <a:ea typeface="+mn-ea"/>
              </a:rPr>
              <a:t>arg</a:t>
            </a:r>
            <a:r>
              <a:rPr lang="zh-CN" altLang="zh-CN" sz="2400" dirty="0">
                <a:latin typeface="+mn-ea"/>
                <a:ea typeface="+mn-ea"/>
              </a:rPr>
              <a:t>标签不同的是，</a:t>
            </a:r>
            <a:r>
              <a:rPr lang="en-US" altLang="zh-CN" sz="2400" dirty="0" err="1">
                <a:latin typeface="+mn-ea"/>
                <a:ea typeface="+mn-ea"/>
              </a:rPr>
              <a:t>arg</a:t>
            </a:r>
            <a:r>
              <a:rPr lang="zh-CN" altLang="zh-CN" sz="2400" dirty="0">
                <a:latin typeface="+mn-ea"/>
                <a:ea typeface="+mn-ea"/>
              </a:rPr>
              <a:t>标签设置的变量仅用于构建过程中，而</a:t>
            </a: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标签设置的变量会一直保存在镜像和容器中。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environment: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RACK_ENV: development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SHOW: 'true'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SESSION_SECRET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1097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或者</a:t>
            </a:r>
            <a:endParaRPr lang="zh-CN" altLang="zh-CN" sz="2400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environment: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RACK_ENV=development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SHOW=true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SESSION_SECRET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5423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85674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env_file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env_file</a:t>
            </a:r>
            <a:r>
              <a:rPr lang="zh-CN" altLang="zh-CN" sz="2400" dirty="0">
                <a:latin typeface="+mn-ea"/>
                <a:ea typeface="+mn-ea"/>
              </a:rPr>
              <a:t>标签用于设置从</a:t>
            </a:r>
            <a:r>
              <a:rPr lang="en-US" altLang="zh-CN" sz="2400" dirty="0" err="1">
                <a:latin typeface="+mn-ea"/>
                <a:ea typeface="+mn-ea"/>
              </a:rPr>
              <a:t>env</a:t>
            </a:r>
            <a:r>
              <a:rPr lang="zh-CN" altLang="zh-CN" sz="2400" dirty="0">
                <a:latin typeface="+mn-ea"/>
                <a:ea typeface="+mn-ea"/>
              </a:rPr>
              <a:t>文件中获取的环境变量，可以指定一个文件路径或路径列表，其优先级低于</a:t>
            </a: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指定的环境变量，即当其设置的变量名称与</a:t>
            </a: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标签设置的变量名称冲突时，以</a:t>
            </a:r>
            <a:r>
              <a:rPr lang="en-US" altLang="zh-CN" sz="2400" dirty="0">
                <a:latin typeface="+mn-ea"/>
                <a:ea typeface="+mn-ea"/>
              </a:rPr>
              <a:t>environment</a:t>
            </a:r>
            <a:r>
              <a:rPr lang="zh-CN" altLang="zh-CN" sz="2400" dirty="0">
                <a:latin typeface="+mn-ea"/>
                <a:ea typeface="+mn-ea"/>
              </a:rPr>
              <a:t>标签设置的变量名称为主。</a:t>
            </a:r>
          </a:p>
          <a:p>
            <a:pPr lvl="2">
              <a:lnSpc>
                <a:spcPct val="150000"/>
              </a:lnSpc>
            </a:pP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env_file</a:t>
            </a: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: .</a:t>
            </a: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env</a:t>
            </a:r>
            <a:endParaRPr lang="zh-CN" altLang="zh-CN" sz="22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可以根据</a:t>
            </a:r>
            <a:r>
              <a:rPr lang="en-US" altLang="zh-CN" sz="2400" dirty="0" err="1">
                <a:latin typeface="+mn-ea"/>
                <a:ea typeface="+mn-ea"/>
              </a:rPr>
              <a:t>docker-compose.yml</a:t>
            </a:r>
            <a:r>
              <a:rPr lang="zh-CN" altLang="zh-CN" sz="2400" dirty="0">
                <a:latin typeface="+mn-ea"/>
                <a:ea typeface="+mn-ea"/>
              </a:rPr>
              <a:t>设置路径列表。</a:t>
            </a:r>
          </a:p>
          <a:p>
            <a:pPr lvl="2">
              <a:lnSpc>
                <a:spcPct val="150000"/>
              </a:lnSpc>
            </a:pP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env_file</a:t>
            </a: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2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  - ./</a:t>
            </a: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common.env</a:t>
            </a:r>
            <a:endParaRPr lang="zh-CN" altLang="zh-CN" sz="22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  - ./apps/</a:t>
            </a: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web.env</a:t>
            </a:r>
            <a:endParaRPr lang="zh-CN" altLang="zh-CN" sz="22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  - /opt/</a:t>
            </a: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secrets.env</a:t>
            </a:r>
            <a:endParaRPr lang="en-US" altLang="zh-CN" sz="22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8497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expose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expose</a:t>
            </a:r>
            <a:r>
              <a:rPr lang="zh-CN" altLang="zh-CN" sz="2400" dirty="0">
                <a:latin typeface="+mn-ea"/>
                <a:ea typeface="+mn-ea"/>
              </a:rPr>
              <a:t>标签用于设置暴露端口，只将端口暴露给连接的服务，而不暴露给主机。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expose: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- "8000"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- "8010"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3342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8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port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port</a:t>
            </a:r>
            <a:r>
              <a:rPr lang="zh-CN" altLang="zh-CN" sz="2400" dirty="0">
                <a:latin typeface="+mn-ea"/>
                <a:ea typeface="+mn-ea"/>
              </a:rPr>
              <a:t>标签用于对外暴露端口定义，使用</a:t>
            </a:r>
            <a:r>
              <a:rPr lang="en-US" altLang="zh-CN" sz="2400" dirty="0" err="1">
                <a:latin typeface="+mn-ea"/>
                <a:ea typeface="+mn-ea"/>
              </a:rPr>
              <a:t>host:container</a:t>
            </a:r>
            <a:r>
              <a:rPr lang="zh-CN" altLang="zh-CN" sz="2400" dirty="0">
                <a:latin typeface="+mn-ea"/>
                <a:ea typeface="+mn-ea"/>
              </a:rPr>
              <a:t>格式，或者只指定容器的端口号，宿主机会随机映射端口。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ports: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"3000"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"8763:8763"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- "8763:8763"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456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9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network_mode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network_mode</a:t>
            </a:r>
            <a:r>
              <a:rPr lang="zh-CN" altLang="zh-CN" sz="2400" dirty="0">
                <a:latin typeface="+mn-ea"/>
                <a:ea typeface="+mn-ea"/>
              </a:rPr>
              <a:t>标签用于设置网络模式。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network_mode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"bridge"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network_mode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"host"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network_mode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"none"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network_mode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"service:[service name]"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network_mode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 "container:[container name/id]"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8105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10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depends_on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depends_on</a:t>
            </a:r>
            <a:r>
              <a:rPr lang="zh-CN" altLang="zh-CN" sz="2400" dirty="0">
                <a:latin typeface="+mn-ea"/>
                <a:ea typeface="+mn-ea"/>
              </a:rPr>
              <a:t>标签用于指定容器服务的启动顺序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8390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11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links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links</a:t>
            </a:r>
            <a:r>
              <a:rPr lang="zh-CN" altLang="zh-CN" sz="2400" dirty="0">
                <a:latin typeface="+mn-ea"/>
                <a:ea typeface="+mn-ea"/>
              </a:rPr>
              <a:t>标签用于指定容器连接到当前连接，可以设置别名。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links: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db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db:database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redis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2725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volumes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volumes</a:t>
            </a:r>
            <a:r>
              <a:rPr lang="zh-CN" altLang="zh-CN" sz="2400" dirty="0">
                <a:latin typeface="+mn-ea"/>
                <a:ea typeface="+mn-ea"/>
              </a:rPr>
              <a:t>标签用于指定卷挂载路径，可以挂载一个目录或者一个已存在的数据卷容器。可以直接使用“</a:t>
            </a:r>
            <a:r>
              <a:rPr lang="en-US" altLang="zh-CN" sz="2400" dirty="0" err="1">
                <a:latin typeface="+mn-ea"/>
                <a:ea typeface="+mn-ea"/>
              </a:rPr>
              <a:t>host:container</a:t>
            </a:r>
            <a:r>
              <a:rPr lang="zh-CN" altLang="zh-CN" sz="2400" dirty="0">
                <a:latin typeface="+mn-ea"/>
                <a:ea typeface="+mn-ea"/>
              </a:rPr>
              <a:t>”格式，或者使用“</a:t>
            </a:r>
            <a:r>
              <a:rPr lang="en-US" altLang="zh-CN" sz="2400" dirty="0" err="1">
                <a:latin typeface="+mn-ea"/>
                <a:ea typeface="+mn-ea"/>
              </a:rPr>
              <a:t>host:container:ro</a:t>
            </a:r>
            <a:r>
              <a:rPr lang="zh-CN" altLang="zh-CN" sz="2400" dirty="0">
                <a:latin typeface="+mn-ea"/>
                <a:ea typeface="+mn-ea"/>
              </a:rPr>
              <a:t>”格式，对于容器来说，后者的数据卷是只读的，这样可以有效保护宿主机的文件系统。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09481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volumes:</a:t>
            </a:r>
            <a:endParaRPr lang="zh-CN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// </a:t>
            </a:r>
            <a:r>
              <a:rPr lang="zh-CN" altLang="zh-CN" sz="2000" dirty="0">
                <a:latin typeface="+mn-ea"/>
                <a:ea typeface="+mn-ea"/>
              </a:rPr>
              <a:t>只是指定一个路径，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zh-CN" altLang="zh-CN" sz="2000" dirty="0">
                <a:latin typeface="+mn-ea"/>
                <a:ea typeface="+mn-ea"/>
              </a:rPr>
              <a:t>会自动创建一个数据卷（该路径是容器内部的）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	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var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/lib/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mysql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// </a:t>
            </a:r>
            <a:r>
              <a:rPr lang="zh-CN" altLang="zh-CN" sz="2000" dirty="0">
                <a:latin typeface="+mn-ea"/>
                <a:ea typeface="+mn-ea"/>
              </a:rPr>
              <a:t>使用绝对路径挂载数据卷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	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/opt/data:/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var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/lib/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mysql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// </a:t>
            </a:r>
            <a:r>
              <a:rPr lang="zh-CN" altLang="zh-CN" sz="2000" dirty="0">
                <a:latin typeface="+mn-ea"/>
                <a:ea typeface="+mn-ea"/>
              </a:rPr>
              <a:t>以</a:t>
            </a:r>
            <a:r>
              <a:rPr lang="en-US" altLang="zh-CN" sz="2000" dirty="0">
                <a:latin typeface="+mn-ea"/>
                <a:ea typeface="+mn-ea"/>
              </a:rPr>
              <a:t> Compose </a:t>
            </a:r>
            <a:r>
              <a:rPr lang="zh-CN" altLang="zh-CN" sz="2000" dirty="0">
                <a:latin typeface="+mn-ea"/>
                <a:ea typeface="+mn-ea"/>
              </a:rPr>
              <a:t>配置文件为中心的相对路径作为数据卷挂载到容器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	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./cache:/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tmp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/cache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// </a:t>
            </a:r>
            <a:r>
              <a:rPr lang="zh-CN" altLang="zh-CN" sz="2000" dirty="0">
                <a:latin typeface="+mn-ea"/>
                <a:ea typeface="+mn-ea"/>
              </a:rPr>
              <a:t>使用用户的相对路径（～</a:t>
            </a:r>
            <a:r>
              <a:rPr lang="en-US" altLang="zh-CN" sz="2000" dirty="0">
                <a:latin typeface="+mn-ea"/>
                <a:ea typeface="+mn-ea"/>
              </a:rPr>
              <a:t>/ </a:t>
            </a:r>
            <a:r>
              <a:rPr lang="zh-CN" altLang="zh-CN" sz="2000" dirty="0">
                <a:latin typeface="+mn-ea"/>
                <a:ea typeface="+mn-ea"/>
              </a:rPr>
              <a:t>表示的目录是</a:t>
            </a:r>
            <a:r>
              <a:rPr lang="en-US" altLang="zh-CN" sz="2000" dirty="0">
                <a:latin typeface="+mn-ea"/>
                <a:ea typeface="+mn-ea"/>
              </a:rPr>
              <a:t> /home/&lt;</a:t>
            </a:r>
            <a:r>
              <a:rPr lang="zh-CN" altLang="zh-CN" sz="2000" dirty="0">
                <a:latin typeface="+mn-ea"/>
                <a:ea typeface="+mn-ea"/>
              </a:rPr>
              <a:t>用户目录</a:t>
            </a:r>
            <a:r>
              <a:rPr lang="en-US" altLang="zh-CN" sz="2000" dirty="0">
                <a:latin typeface="+mn-ea"/>
                <a:ea typeface="+mn-ea"/>
              </a:rPr>
              <a:t>&gt;/ </a:t>
            </a:r>
            <a:r>
              <a:rPr lang="zh-CN" altLang="zh-CN" sz="2000" dirty="0">
                <a:latin typeface="+mn-ea"/>
                <a:ea typeface="+mn-ea"/>
              </a:rPr>
              <a:t>或者</a:t>
            </a:r>
            <a:r>
              <a:rPr lang="en-US" altLang="zh-CN" sz="2000" dirty="0">
                <a:latin typeface="+mn-ea"/>
                <a:ea typeface="+mn-ea"/>
              </a:rPr>
              <a:t> /root/</a:t>
            </a:r>
            <a:r>
              <a:rPr lang="zh-CN" altLang="zh-CN" sz="2000" dirty="0">
                <a:latin typeface="+mn-ea"/>
                <a:ea typeface="+mn-ea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	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configs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:/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configs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/: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</a:rPr>
              <a:t>ro</a:t>
            </a:r>
            <a:endParaRPr lang="zh-CN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// </a:t>
            </a:r>
            <a:r>
              <a:rPr lang="zh-CN" altLang="zh-CN" sz="2000" dirty="0">
                <a:latin typeface="+mn-ea"/>
                <a:ea typeface="+mn-ea"/>
              </a:rPr>
              <a:t>已经存在的命名的数据卷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	- </a:t>
            </a:r>
            <a:r>
              <a:rPr lang="en-US" altLang="zh-CN" sz="2000" dirty="0" err="1">
                <a:latin typeface="+mn-ea"/>
                <a:ea typeface="+mn-ea"/>
              </a:rPr>
              <a:t>datavolume</a:t>
            </a:r>
            <a:r>
              <a:rPr lang="en-US" altLang="zh-CN" sz="2000" dirty="0">
                <a:latin typeface="+mn-ea"/>
                <a:ea typeface="+mn-ea"/>
              </a:rPr>
              <a:t>:/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/lib/</a:t>
            </a:r>
            <a:r>
              <a:rPr lang="en-US" altLang="zh-CN" sz="2000" dirty="0" err="1">
                <a:latin typeface="+mn-ea"/>
                <a:ea typeface="+mn-ea"/>
              </a:rPr>
              <a:t>mysql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2886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13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volumes_from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volumes_from</a:t>
            </a:r>
            <a:r>
              <a:rPr lang="zh-CN" altLang="zh-CN" sz="2400" dirty="0">
                <a:latin typeface="+mn-ea"/>
                <a:ea typeface="+mn-ea"/>
              </a:rPr>
              <a:t>标签用于设置从其他容器或服务挂载数据卷，可选的参数是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  <a:r>
              <a:rPr lang="en-US" altLang="zh-CN" sz="2400" dirty="0" err="1">
                <a:latin typeface="+mn-ea"/>
                <a:ea typeface="+mn-ea"/>
              </a:rPr>
              <a:t>ro</a:t>
            </a:r>
            <a:r>
              <a:rPr lang="zh-CN" altLang="zh-CN" sz="2400" dirty="0">
                <a:latin typeface="+mn-ea"/>
                <a:ea typeface="+mn-ea"/>
              </a:rPr>
              <a:t>或者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  <a:r>
              <a:rPr lang="en-US" altLang="zh-CN" sz="2400" dirty="0" err="1">
                <a:latin typeface="+mn-ea"/>
                <a:ea typeface="+mn-ea"/>
              </a:rPr>
              <a:t>rw</a:t>
            </a:r>
            <a:r>
              <a:rPr lang="zh-CN" altLang="zh-CN" sz="2400" dirty="0">
                <a:latin typeface="+mn-ea"/>
                <a:ea typeface="+mn-ea"/>
              </a:rPr>
              <a:t>，前者表示容器只读，后者表示容器对数据卷是可读可写的，默认情况下是可读可写的。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volumes_from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service_name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service_name:ro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container:container_name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-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container:container_name:rw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1403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14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logs</a:t>
            </a:r>
            <a:r>
              <a:rPr lang="zh-CN" altLang="zh-CN" sz="2400" dirty="0">
                <a:latin typeface="+mn-ea"/>
                <a:ea typeface="+mn-ea"/>
              </a:rPr>
              <a:t>标签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logs</a:t>
            </a:r>
            <a:r>
              <a:rPr lang="zh-CN" altLang="zh-CN" sz="2400" dirty="0">
                <a:latin typeface="+mn-ea"/>
                <a:ea typeface="+mn-ea"/>
              </a:rPr>
              <a:t>标签用于设置日志输出信息。</a:t>
            </a:r>
          </a:p>
          <a:p>
            <a:pPr lvl="2">
              <a:lnSpc>
                <a:spcPct val="150000"/>
              </a:lnSpc>
            </a:pPr>
            <a:r>
              <a:rPr lang="da-DK" altLang="zh-CN" sz="2400" dirty="0">
                <a:solidFill>
                  <a:srgbClr val="FF0000"/>
                </a:solidFill>
                <a:latin typeface="+mn-ea"/>
                <a:ea typeface="+mn-ea"/>
              </a:rPr>
              <a:t>logging: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da-DK" altLang="zh-CN" sz="2400" dirty="0">
                <a:solidFill>
                  <a:srgbClr val="FF0000"/>
                </a:solidFill>
                <a:latin typeface="+mn-ea"/>
                <a:ea typeface="+mn-ea"/>
              </a:rPr>
              <a:t>   driver: syslog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da-DK" altLang="zh-CN" sz="2400" dirty="0">
                <a:solidFill>
                  <a:srgbClr val="FF0000"/>
                </a:solidFill>
                <a:latin typeface="+mn-ea"/>
                <a:ea typeface="+mn-ea"/>
              </a:rPr>
              <a:t>   options: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da-DK" altLang="zh-CN" sz="2400" dirty="0">
                <a:solidFill>
                  <a:srgbClr val="FF0000"/>
                </a:solidFill>
                <a:latin typeface="+mn-ea"/>
                <a:ea typeface="+mn-ea"/>
              </a:rPr>
              <a:t>     syslog-address: "tcp://192.168.0.42:123"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2266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 Compose</a:t>
            </a:r>
            <a:r>
              <a:rPr lang="zh-CN" altLang="en-US" sz="2400" dirty="0" smtClean="0">
                <a:latin typeface="+mn-ea"/>
                <a:ea typeface="+mn-ea"/>
              </a:rPr>
              <a:t>工具的安装与卸载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2. Compose</a:t>
            </a:r>
            <a:r>
              <a:rPr lang="zh-CN" altLang="en-US" sz="2400" dirty="0" smtClean="0">
                <a:latin typeface="+mn-ea"/>
                <a:ea typeface="+mn-ea"/>
              </a:rPr>
              <a:t>应用案例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2139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实训目的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en-US" sz="2400" dirty="0">
                <a:latin typeface="+mn-ea"/>
                <a:ea typeface="+mn-ea"/>
              </a:rPr>
              <a:t>工具的安装方法。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en-US" sz="2400" dirty="0">
                <a:latin typeface="+mn-ea"/>
                <a:ea typeface="+mn-ea"/>
              </a:rPr>
              <a:t>工具的使用方法。</a:t>
            </a: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 实训内容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）在</a:t>
            </a:r>
            <a:r>
              <a:rPr lang="en-US" altLang="zh-CN" sz="2400" dirty="0" err="1">
                <a:latin typeface="+mn-ea"/>
                <a:ea typeface="+mn-ea"/>
              </a:rPr>
              <a:t>CentOS</a:t>
            </a:r>
            <a:r>
              <a:rPr lang="en-US" altLang="zh-CN" sz="2400" dirty="0">
                <a:latin typeface="+mn-ea"/>
                <a:ea typeface="+mn-ea"/>
              </a:rPr>
              <a:t> 7</a:t>
            </a:r>
            <a:r>
              <a:rPr lang="zh-CN" altLang="en-US" sz="2400" dirty="0">
                <a:latin typeface="+mn-ea"/>
                <a:ea typeface="+mn-ea"/>
              </a:rPr>
              <a:t>操作系统中安装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en-US" sz="2400" dirty="0">
                <a:latin typeface="+mn-ea"/>
                <a:ea typeface="+mn-ea"/>
              </a:rPr>
              <a:t>工具。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）验证</a:t>
            </a:r>
            <a:r>
              <a:rPr lang="en-US" altLang="zh-CN" sz="2400" dirty="0">
                <a:latin typeface="+mn-ea"/>
                <a:ea typeface="+mn-ea"/>
              </a:rPr>
              <a:t>Compose</a:t>
            </a:r>
            <a:r>
              <a:rPr lang="zh-CN" altLang="en-US" sz="2400" dirty="0">
                <a:latin typeface="+mn-ea"/>
                <a:ea typeface="+mn-ea"/>
              </a:rPr>
              <a:t>工具是否正确安装。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）使用</a:t>
            </a:r>
            <a:r>
              <a:rPr lang="en-US" altLang="zh-CN" sz="2400" dirty="0">
                <a:latin typeface="+mn-ea"/>
                <a:ea typeface="+mn-ea"/>
              </a:rPr>
              <a:t>WordPress</a:t>
            </a:r>
            <a:r>
              <a:rPr lang="zh-CN" altLang="en-US" sz="2400" dirty="0">
                <a:latin typeface="+mn-ea"/>
                <a:ea typeface="+mn-ea"/>
              </a:rPr>
              <a:t>搭建一个博客系统。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）测试博客系统。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5.1 Compose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7189676" cy="609600"/>
          </a:xfrm>
        </p:spPr>
        <p:txBody>
          <a:bodyPr/>
          <a:lstStyle/>
          <a:p>
            <a:r>
              <a:rPr lang="zh-CN" altLang="en-US" sz="3200" b="1" dirty="0" smtClean="0"/>
              <a:t>项目实现  多容器搭建</a:t>
            </a:r>
            <a:r>
              <a:rPr lang="en-US" altLang="zh-CN" sz="3200" b="1" dirty="0" smtClean="0"/>
              <a:t>WordPress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0227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Compose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编排工具的使用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426483" cy="1645402"/>
            <a:chOff x="2638525" y="3259707"/>
            <a:chExt cx="6426483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4828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Swarm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编排工具的使用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62813" y="4043423"/>
            <a:ext cx="2452723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编排工具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328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5.2.1 swarm</a:t>
            </a:r>
            <a:r>
              <a:rPr lang="zh-CN" altLang="en-US" sz="2400" dirty="0" smtClean="0">
                <a:latin typeface="+mn-ea"/>
                <a:ea typeface="+mn-ea"/>
              </a:rPr>
              <a:t>工具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Swarm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公司在</a:t>
            </a:r>
            <a:r>
              <a:rPr lang="en-US" altLang="zh-CN" sz="2400" dirty="0">
                <a:latin typeface="+mn-ea"/>
                <a:ea typeface="+mn-ea"/>
              </a:rPr>
              <a:t>2014</a:t>
            </a:r>
            <a:r>
              <a:rPr lang="zh-CN" altLang="zh-CN" sz="2400" dirty="0">
                <a:latin typeface="+mn-ea"/>
                <a:ea typeface="+mn-ea"/>
              </a:rPr>
              <a:t>年</a:t>
            </a:r>
            <a:r>
              <a:rPr lang="en-US" altLang="zh-CN" sz="2400" dirty="0">
                <a:latin typeface="+mn-ea"/>
                <a:ea typeface="+mn-ea"/>
              </a:rPr>
              <a:t>12</a:t>
            </a:r>
            <a:r>
              <a:rPr lang="zh-CN" altLang="zh-CN" sz="2400" dirty="0">
                <a:latin typeface="+mn-ea"/>
                <a:ea typeface="+mn-ea"/>
              </a:rPr>
              <a:t>月初发布的一套用于管理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集群的较为简单的工具，由于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使用标准的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API</a:t>
            </a:r>
            <a:r>
              <a:rPr lang="zh-CN" altLang="zh-CN" sz="2400" dirty="0">
                <a:latin typeface="+mn-ea"/>
                <a:ea typeface="+mn-ea"/>
              </a:rPr>
              <a:t>作为其前端访问入口，所以各种形式的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Client</a:t>
            </a: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Client in Go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docker_py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等）均可以直接与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通信。旧版本的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Swarm</a:t>
            </a:r>
            <a:r>
              <a:rPr lang="zh-CN" altLang="zh-CN" sz="2400" dirty="0">
                <a:latin typeface="+mn-ea"/>
                <a:ea typeface="+mn-ea"/>
              </a:rPr>
              <a:t>使用独立的外部</a:t>
            </a:r>
            <a:r>
              <a:rPr lang="en-US" altLang="zh-CN" sz="2400" dirty="0">
                <a:latin typeface="+mn-ea"/>
                <a:ea typeface="+mn-ea"/>
              </a:rPr>
              <a:t>KV</a:t>
            </a:r>
            <a:r>
              <a:rPr lang="zh-CN" altLang="zh-CN" sz="2400" dirty="0">
                <a:latin typeface="+mn-ea"/>
                <a:ea typeface="+mn-ea"/>
              </a:rPr>
              <a:t>存储（如</a:t>
            </a:r>
            <a:r>
              <a:rPr lang="en-US" altLang="zh-CN" sz="2400" dirty="0">
                <a:latin typeface="+mn-ea"/>
                <a:ea typeface="+mn-ea"/>
              </a:rPr>
              <a:t>Consul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etcd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ZooKeeper</a:t>
            </a:r>
            <a:r>
              <a:rPr lang="zh-CN" altLang="zh-CN" sz="2400" dirty="0">
                <a:latin typeface="+mn-ea"/>
                <a:ea typeface="+mn-ea"/>
              </a:rPr>
              <a:t>），搭建了独立运行的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主机集群，用户可以像操作单台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主机一样操作整个集群，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Swarm</a:t>
            </a:r>
            <a:r>
              <a:rPr lang="zh-CN" altLang="zh-CN" sz="2400" dirty="0">
                <a:latin typeface="+mn-ea"/>
                <a:ea typeface="+mn-ea"/>
              </a:rPr>
              <a:t>可将多台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主机当作一台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主机来管理。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27117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 algn="just" fontAlgn="ctr"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新</a:t>
            </a:r>
            <a:r>
              <a:rPr lang="zh-CN" altLang="zh-CN" sz="2400" dirty="0">
                <a:latin typeface="+mn-ea"/>
                <a:ea typeface="+mn-ea"/>
              </a:rPr>
              <a:t>的</a:t>
            </a:r>
            <a:r>
              <a:rPr lang="en-US" altLang="zh-CN" sz="2400" dirty="0">
                <a:latin typeface="+mn-ea"/>
                <a:ea typeface="+mn-ea"/>
              </a:rPr>
              <a:t>Swarm Mode</a:t>
            </a:r>
            <a:r>
              <a:rPr lang="zh-CN" altLang="zh-CN" sz="2400" dirty="0">
                <a:latin typeface="+mn-ea"/>
                <a:ea typeface="+mn-ea"/>
              </a:rPr>
              <a:t>是在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1.12</a:t>
            </a:r>
            <a:r>
              <a:rPr lang="zh-CN" altLang="zh-CN" sz="2400" dirty="0">
                <a:latin typeface="+mn-ea"/>
                <a:ea typeface="+mn-ea"/>
              </a:rPr>
              <a:t>中被集成到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引擎中的，引入了服务的概念，提供了众多的新特性，如具有容错能力的去中心化设计，内置服务发现、负载均衡、路由网格、动态伸缩、滚动更新、安全传输等功能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比较类似，但是更加轻量，具有的功能比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少一些。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8494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5.2.2 swarm</a:t>
            </a:r>
            <a:r>
              <a:rPr lang="zh-CN" altLang="en-US" sz="2400" dirty="0" smtClean="0">
                <a:latin typeface="+mn-ea"/>
                <a:ea typeface="+mn-ea"/>
              </a:rPr>
              <a:t>架构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Swarm</a:t>
            </a:r>
            <a:r>
              <a:rPr lang="zh-CN" altLang="zh-CN" sz="2400" dirty="0">
                <a:latin typeface="+mn-ea"/>
                <a:ea typeface="+mn-ea"/>
              </a:rPr>
              <a:t>作为一个管理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集群的工具使用时，需要先对其进行部署，可以单独将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部署于一个节点。另外，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需要一个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集群，集群上每一个节点均安装有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Swarm</a:t>
            </a:r>
            <a:r>
              <a:rPr lang="zh-CN" altLang="zh-CN" sz="2400" dirty="0">
                <a:latin typeface="+mn-ea"/>
                <a:ea typeface="+mn-ea"/>
              </a:rPr>
              <a:t>架构中最主要的处理部分是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节点，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管理的对象是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Cluster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Cluster</a:t>
            </a:r>
            <a:r>
              <a:rPr lang="zh-CN" altLang="zh-CN" sz="2400" dirty="0">
                <a:latin typeface="+mn-ea"/>
                <a:ea typeface="+mn-ea"/>
              </a:rPr>
              <a:t>由多个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Node</a:t>
            </a:r>
            <a:r>
              <a:rPr lang="zh-CN" altLang="zh-CN" sz="2400" dirty="0">
                <a:latin typeface="+mn-ea"/>
                <a:ea typeface="+mn-ea"/>
              </a:rPr>
              <a:t>组成，而负责给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发送请求的是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Client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644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5.2.3 Swarm</a:t>
            </a:r>
            <a:r>
              <a:rPr lang="zh-CN" altLang="en-US" sz="2400" dirty="0" smtClean="0">
                <a:latin typeface="+mn-ea"/>
                <a:ea typeface="+mn-ea"/>
              </a:rPr>
              <a:t>相关概念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endParaRPr lang="zh-CN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集群</a:t>
            </a:r>
            <a:r>
              <a:rPr lang="zh-CN" altLang="zh-CN" sz="2400" dirty="0">
                <a:latin typeface="+mn-ea"/>
                <a:ea typeface="+mn-ea"/>
              </a:rPr>
              <a:t>的管理和编排使用了嵌入到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引擎中的</a:t>
            </a:r>
            <a:r>
              <a:rPr lang="en-US" altLang="zh-CN" sz="2400" dirty="0" err="1">
                <a:latin typeface="+mn-ea"/>
                <a:ea typeface="+mn-ea"/>
              </a:rPr>
              <a:t>SwarmKit</a:t>
            </a:r>
            <a:r>
              <a:rPr lang="zh-CN" altLang="zh-CN" sz="2400" dirty="0">
                <a:latin typeface="+mn-ea"/>
                <a:ea typeface="+mn-ea"/>
              </a:rPr>
              <a:t>，可以在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初始化时启动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模式或者加入已存在的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algn="just" fontAlgn="ctr">
              <a:lnSpc>
                <a:spcPct val="150000"/>
              </a:lnSpc>
            </a:pP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4799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．节点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Node</a:t>
            </a:r>
            <a:r>
              <a:rPr lang="zh-CN" altLang="zh-CN" sz="2400" dirty="0">
                <a:latin typeface="+mn-ea"/>
                <a:ea typeface="+mn-ea"/>
              </a:rPr>
              <a:t>是加入到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集群中的一个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引擎实体，可以在一台物理机上运行多个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可以分为管理节点（</a:t>
            </a:r>
            <a:r>
              <a:rPr lang="en-US" altLang="zh-CN" sz="2400" dirty="0">
                <a:latin typeface="+mn-ea"/>
                <a:ea typeface="+mn-ea"/>
              </a:rPr>
              <a:t>manager</a:t>
            </a:r>
            <a:r>
              <a:rPr lang="zh-CN" altLang="zh-CN" sz="2400" dirty="0">
                <a:latin typeface="+mn-ea"/>
                <a:ea typeface="+mn-ea"/>
              </a:rPr>
              <a:t>节点）和工作节点（</a:t>
            </a:r>
            <a:r>
              <a:rPr lang="en-US" altLang="zh-CN" sz="2400" dirty="0">
                <a:latin typeface="+mn-ea"/>
                <a:ea typeface="+mn-ea"/>
              </a:rPr>
              <a:t>worker</a:t>
            </a:r>
            <a:r>
              <a:rPr lang="zh-CN" altLang="zh-CN" sz="2400" dirty="0">
                <a:latin typeface="+mn-ea"/>
                <a:ea typeface="+mn-ea"/>
              </a:rPr>
              <a:t>节点）两类。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当</a:t>
            </a:r>
            <a:r>
              <a:rPr lang="zh-CN" altLang="zh-CN" sz="2400" dirty="0">
                <a:latin typeface="+mn-ea"/>
                <a:ea typeface="+mn-ea"/>
              </a:rPr>
              <a:t>一个节点作为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引擎实体，部署应用到集群中时，会提交服务到管理节点，管理节点调度任务到工作节点，管理节点还要执行维护集群状态的编排和集群管理的功能，工作节点接收并执行来自管理节点的任务。通常，管理节点也可以是工作节点，工作节点会报告当前状态给管理节点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5920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．服务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服务</a:t>
            </a:r>
            <a:r>
              <a:rPr lang="zh-CN" altLang="zh-CN" sz="2400" dirty="0">
                <a:latin typeface="+mn-ea"/>
                <a:ea typeface="+mn-ea"/>
              </a:rPr>
              <a:t>是在工作节点上执行任务的定义，在工作节点上执行，创建服务时，需要指定容器镜像。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．任务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</a:t>
            </a:r>
            <a:r>
              <a:rPr lang="zh-CN" altLang="zh-CN" sz="2400" dirty="0" smtClean="0">
                <a:latin typeface="+mn-ea"/>
                <a:ea typeface="+mn-ea"/>
              </a:rPr>
              <a:t>任务</a:t>
            </a:r>
            <a:r>
              <a:rPr lang="zh-CN" altLang="zh-CN" sz="2400" dirty="0">
                <a:latin typeface="+mn-ea"/>
                <a:ea typeface="+mn-ea"/>
              </a:rPr>
              <a:t>是指在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容器中执行的命令，管理节点根据指定数量的任务副本来分配任务给工作节点。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528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5.2.4 Swarm</a:t>
            </a:r>
            <a:r>
              <a:rPr lang="zh-CN" altLang="en-US" sz="2400" dirty="0" smtClean="0">
                <a:latin typeface="+mn-ea"/>
                <a:ea typeface="+mn-ea"/>
              </a:rPr>
              <a:t>常用命令</a:t>
            </a:r>
            <a:endParaRPr lang="en-US" altLang="zh-CN" sz="2400" dirty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Swarm</a:t>
            </a:r>
            <a:r>
              <a:rPr lang="zh-CN" altLang="zh-CN" sz="2400" dirty="0">
                <a:latin typeface="+mn-ea"/>
                <a:ea typeface="+mn-ea"/>
              </a:rPr>
              <a:t>的常用命令有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swarm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service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node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命令用于管理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 smtClean="0">
                <a:latin typeface="+mn-ea"/>
                <a:ea typeface="+mn-ea"/>
              </a:rPr>
              <a:t>集群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命令用于管理</a:t>
            </a:r>
            <a:r>
              <a:rPr lang="zh-CN" altLang="zh-CN" sz="2400" dirty="0" smtClean="0">
                <a:latin typeface="+mn-ea"/>
                <a:ea typeface="+mn-ea"/>
              </a:rPr>
              <a:t>服务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命令用于管理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zh-CN" sz="2400" dirty="0">
                <a:latin typeface="+mn-ea"/>
                <a:ea typeface="+mn-ea"/>
              </a:rPr>
              <a:t>集群中的节点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8689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571595"/>
            <a:ext cx="116957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>
              <a:lnSpc>
                <a:spcPct val="150000"/>
              </a:lnSpc>
            </a:pPr>
            <a:r>
              <a:rPr lang="en-US" altLang="zh-CN" sz="2000" dirty="0" err="1">
                <a:latin typeface="+mn-ea"/>
                <a:ea typeface="+mn-ea"/>
              </a:rPr>
              <a:t>d</a:t>
            </a:r>
            <a:r>
              <a:rPr lang="en-US" altLang="zh-CN" sz="2000" dirty="0" err="1" smtClean="0">
                <a:latin typeface="+mn-ea"/>
                <a:ea typeface="+mn-ea"/>
              </a:rPr>
              <a:t>ocker</a:t>
            </a:r>
            <a:r>
              <a:rPr lang="en-US" altLang="zh-CN" sz="2000" dirty="0" smtClean="0">
                <a:latin typeface="+mn-ea"/>
                <a:ea typeface="+mn-ea"/>
              </a:rPr>
              <a:t> swarm</a:t>
            </a:r>
            <a:r>
              <a:rPr lang="zh-CN" altLang="en-US" sz="2000" dirty="0" smtClean="0">
                <a:latin typeface="+mn-ea"/>
                <a:ea typeface="+mn-ea"/>
              </a:rPr>
              <a:t>常用命令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99425"/>
              </p:ext>
            </p:extLst>
          </p:nvPr>
        </p:nvGraphicFramePr>
        <p:xfrm>
          <a:off x="725696" y="2211858"/>
          <a:ext cx="11075239" cy="428599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0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命令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 swarm </a:t>
                      </a:r>
                      <a:r>
                        <a:rPr lang="en-US" sz="2000" kern="100" spc="10" dirty="0" err="1">
                          <a:effectLst/>
                          <a:latin typeface="+mn-ea"/>
                          <a:ea typeface="+mn-ea"/>
                        </a:rPr>
                        <a:t>init</a:t>
                      </a:r>
                      <a:endParaRPr lang="zh-CN" sz="20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初始化一个</a:t>
                      </a: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集群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 swarm join</a:t>
                      </a:r>
                      <a:endParaRPr lang="zh-CN" sz="20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加入集群作为工作节点或管理节点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swarm join-token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管理用于加入集群的令牌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swarm leave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离开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集群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swarm unlock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解锁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集群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swarm unlock-key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管理解锁钥匙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749"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 swam update</a:t>
                      </a:r>
                      <a:endParaRPr lang="zh-CN" sz="20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9080"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更新</a:t>
                      </a:r>
                      <a:r>
                        <a:rPr lang="en-US" sz="2000" kern="100" spc="10" dirty="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集群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59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>
              <a:lnSpc>
                <a:spcPct val="150000"/>
              </a:lnSpc>
            </a:pPr>
            <a:r>
              <a:rPr lang="en-US" altLang="zh-CN" sz="2000" dirty="0" err="1" smtClean="0">
                <a:latin typeface="+mn-ea"/>
                <a:ea typeface="+mn-ea"/>
              </a:rPr>
              <a:t>docker</a:t>
            </a:r>
            <a:r>
              <a:rPr lang="en-US" altLang="zh-CN" sz="2000" dirty="0" smtClean="0">
                <a:latin typeface="+mn-ea"/>
                <a:ea typeface="+mn-ea"/>
              </a:rPr>
              <a:t> service</a:t>
            </a:r>
            <a:r>
              <a:rPr lang="zh-CN" altLang="en-US" sz="2000" dirty="0" smtClean="0">
                <a:latin typeface="+mn-ea"/>
                <a:ea typeface="+mn-ea"/>
              </a:rPr>
              <a:t>常用命令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29931"/>
              </p:ext>
            </p:extLst>
          </p:nvPr>
        </p:nvGraphicFramePr>
        <p:xfrm>
          <a:off x="912328" y="2478722"/>
          <a:ext cx="11147399" cy="423262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125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1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命令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create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创建服务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inspect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显示一个或多个服务的详细信息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logs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获取服务的日志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ls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列出服务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rm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删除一个或多个服务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scale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设置服务的实例数量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update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更新服务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292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service rollback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恢复服务到更新之前的配置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76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>
              <a:lnSpc>
                <a:spcPct val="150000"/>
              </a:lnSpc>
            </a:pPr>
            <a:r>
              <a:rPr lang="en-US" altLang="zh-CN" sz="2000" dirty="0" err="1" smtClean="0">
                <a:latin typeface="+mn-ea"/>
                <a:ea typeface="+mn-ea"/>
              </a:rPr>
              <a:t>Docker</a:t>
            </a:r>
            <a:r>
              <a:rPr lang="en-US" altLang="zh-CN" sz="2000" dirty="0" smtClean="0">
                <a:latin typeface="+mn-ea"/>
                <a:ea typeface="+mn-ea"/>
              </a:rPr>
              <a:t> node</a:t>
            </a:r>
            <a:r>
              <a:rPr lang="zh-CN" altLang="en-US" sz="2000" dirty="0" smtClean="0">
                <a:latin typeface="+mn-ea"/>
                <a:ea typeface="+mn-ea"/>
              </a:rPr>
              <a:t>常用命令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645658"/>
              </p:ext>
            </p:extLst>
          </p:nvPr>
        </p:nvGraphicFramePr>
        <p:xfrm>
          <a:off x="496276" y="2426530"/>
          <a:ext cx="11695723" cy="421580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32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命令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demote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集群管理器中降级一个或多个节点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inspect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显示一个或多个节点的详细信息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ls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列出</a:t>
                      </a: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集群中的节点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promote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将一个或多个节点加入到集群管理器中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ps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列出一个或多个在节点上运行的任务，默认为当前节点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rm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Swarm</a:t>
                      </a:r>
                      <a:r>
                        <a:rPr lang="zh-CN" sz="2000" kern="100" spc="10">
                          <a:effectLst/>
                          <a:latin typeface="+mn-ea"/>
                          <a:ea typeface="+mn-ea"/>
                        </a:rPr>
                        <a:t>集群中删除一个或多个节点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97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" spc="10">
                          <a:effectLst/>
                          <a:latin typeface="+mn-ea"/>
                          <a:ea typeface="+mn-ea"/>
                        </a:rPr>
                        <a:t>docker node update</a:t>
                      </a:r>
                      <a:endParaRPr lang="zh-CN" sz="20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" spc="10" dirty="0">
                          <a:effectLst/>
                          <a:latin typeface="+mn-ea"/>
                          <a:ea typeface="+mn-ea"/>
                        </a:rPr>
                        <a:t>更新一个节点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13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Swarm</a:t>
            </a:r>
            <a:r>
              <a:rPr lang="zh-CN" altLang="en-US" sz="2400" dirty="0" smtClean="0">
                <a:latin typeface="+mn-ea"/>
                <a:ea typeface="+mn-ea"/>
              </a:rPr>
              <a:t>编排工具的使用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990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实训目的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Swarm</a:t>
            </a: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en-US" altLang="zh-CN" sz="2400" dirty="0" err="1">
                <a:latin typeface="+mn-ea"/>
                <a:ea typeface="+mn-ea"/>
              </a:rPr>
              <a:t>CentOS</a:t>
            </a:r>
            <a:r>
              <a:rPr lang="en-US" altLang="zh-CN" sz="2400" dirty="0">
                <a:latin typeface="+mn-ea"/>
                <a:ea typeface="+mn-ea"/>
              </a:rPr>
              <a:t> 7</a:t>
            </a:r>
            <a:r>
              <a:rPr lang="zh-CN" altLang="en-US" sz="2400" dirty="0">
                <a:latin typeface="+mn-ea"/>
                <a:ea typeface="+mn-ea"/>
              </a:rPr>
              <a:t>操作系统中的安装方法。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en-US" sz="2400" dirty="0">
                <a:latin typeface="+mn-ea"/>
                <a:ea typeface="+mn-ea"/>
              </a:rPr>
              <a:t>集群的在线和离线创建方法。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en-US" sz="2400" dirty="0">
                <a:latin typeface="+mn-ea"/>
                <a:ea typeface="+mn-ea"/>
              </a:rPr>
              <a:t>集群的自动编排方法。</a:t>
            </a: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 实训内容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）在</a:t>
            </a:r>
            <a:r>
              <a:rPr lang="en-US" altLang="zh-CN" sz="2400" dirty="0" err="1">
                <a:latin typeface="+mn-ea"/>
                <a:ea typeface="+mn-ea"/>
              </a:rPr>
              <a:t>CentOS</a:t>
            </a:r>
            <a:r>
              <a:rPr lang="en-US" altLang="zh-CN" sz="2400" dirty="0">
                <a:latin typeface="+mn-ea"/>
                <a:ea typeface="+mn-ea"/>
              </a:rPr>
              <a:t> 7</a:t>
            </a:r>
            <a:r>
              <a:rPr lang="zh-CN" altLang="en-US" sz="2400" dirty="0">
                <a:latin typeface="+mn-ea"/>
                <a:ea typeface="+mn-ea"/>
              </a:rPr>
              <a:t>操作系统中安装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en-US" sz="2400" dirty="0">
                <a:latin typeface="+mn-ea"/>
                <a:ea typeface="+mn-ea"/>
              </a:rPr>
              <a:t>工具。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）在线创建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en-US" sz="2400" dirty="0">
                <a:latin typeface="+mn-ea"/>
                <a:ea typeface="+mn-ea"/>
              </a:rPr>
              <a:t>集群并自动编排。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）离线创建</a:t>
            </a:r>
            <a:r>
              <a:rPr lang="en-US" altLang="zh-CN" sz="2400" dirty="0">
                <a:latin typeface="+mn-ea"/>
                <a:ea typeface="+mn-ea"/>
              </a:rPr>
              <a:t>Swarm</a:t>
            </a:r>
            <a:r>
              <a:rPr lang="zh-CN" altLang="en-US" sz="2400" dirty="0">
                <a:latin typeface="+mn-ea"/>
                <a:ea typeface="+mn-ea"/>
              </a:rPr>
              <a:t>集群并自动编排。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89676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5.2 Swarm</a:t>
            </a:r>
            <a:r>
              <a:rPr lang="zh-CN" altLang="en-US" dirty="0" smtClean="0"/>
              <a:t>编排工具的使用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8" y="914401"/>
            <a:ext cx="7707261" cy="609600"/>
          </a:xfrm>
        </p:spPr>
        <p:txBody>
          <a:bodyPr/>
          <a:lstStyle/>
          <a:p>
            <a:r>
              <a:rPr lang="zh-CN" altLang="en-US" sz="3200" b="1" dirty="0" smtClean="0"/>
              <a:t>项目实训  使用</a:t>
            </a:r>
            <a:r>
              <a:rPr lang="en-US" altLang="zh-CN" sz="3200" b="1" dirty="0" smtClean="0"/>
              <a:t>Swarm</a:t>
            </a:r>
            <a:r>
              <a:rPr lang="zh-CN" altLang="en-US" sz="3200" b="1" dirty="0" smtClean="0"/>
              <a:t>集群和自动编排功能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5.2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2415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709609" y="2501900"/>
            <a:ext cx="2334293" cy="2754665"/>
          </a:xfrm>
        </p:spPr>
        <p:txBody>
          <a:bodyPr/>
          <a:lstStyle/>
          <a:p>
            <a:r>
              <a:rPr lang="en-US" altLang="zh-CN" dirty="0" smtClean="0"/>
              <a:t>Thank</a:t>
            </a:r>
          </a:p>
          <a:p>
            <a:r>
              <a:rPr lang="en-US" altLang="zh-CN" dirty="0"/>
              <a:t>YOU</a:t>
            </a:r>
            <a:r>
              <a:rPr lang="en-US" altLang="zh-CN" dirty="0" smtClean="0"/>
              <a:t>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77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蓝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0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5627</TotalTime>
  <Words>3988</Words>
  <Application>Microsoft Office PowerPoint</Application>
  <PresentationFormat>宽屏</PresentationFormat>
  <Paragraphs>584</Paragraphs>
  <Slides>55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方正兰亭超细黑简体</vt:lpstr>
      <vt:lpstr>宋体</vt:lpstr>
      <vt:lpstr>微软雅黑</vt:lpstr>
      <vt:lpstr>Arial</vt:lpstr>
      <vt:lpstr>Calibri</vt:lpstr>
      <vt:lpstr>Calibri Light</vt:lpstr>
      <vt:lpstr>Segoe UI Semilight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云计算和云计算基础架构平台介绍  南京第五十五所技术开发有限公司 宋学永 于奎伟 程然</dc:title>
  <dc:creator>soongxueyong</dc:creator>
  <cp:lastModifiedBy>李松江</cp:lastModifiedBy>
  <cp:revision>1023</cp:revision>
  <dcterms:modified xsi:type="dcterms:W3CDTF">2020-11-20T00:50:39Z</dcterms:modified>
</cp:coreProperties>
</file>