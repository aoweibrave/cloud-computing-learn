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5"/>
  </p:notesMasterIdLst>
  <p:handoutMasterIdLst>
    <p:handoutMasterId r:id="rId46"/>
  </p:handoutMasterIdLst>
  <p:sldIdLst>
    <p:sldId id="407" r:id="rId3"/>
    <p:sldId id="405" r:id="rId4"/>
    <p:sldId id="408" r:id="rId5"/>
    <p:sldId id="340" r:id="rId6"/>
    <p:sldId id="417" r:id="rId7"/>
    <p:sldId id="338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450" r:id="rId27"/>
    <p:sldId id="448" r:id="rId28"/>
    <p:sldId id="449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462" r:id="rId41"/>
    <p:sldId id="463" r:id="rId42"/>
    <p:sldId id="464" r:id="rId43"/>
    <p:sldId id="429" r:id="rId44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11B0E9"/>
    <a:srgbClr val="3399FF"/>
    <a:srgbClr val="6DEDD8"/>
    <a:srgbClr val="404040"/>
    <a:srgbClr val="2898D6"/>
    <a:srgbClr val="7FC3E7"/>
    <a:srgbClr val="00B0F0"/>
    <a:srgbClr val="41E8CD"/>
    <a:srgbClr val="007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1" autoAdjust="0"/>
    <p:restoredTop sz="88018" autoAdjust="0"/>
  </p:normalViewPr>
  <p:slideViewPr>
    <p:cSldViewPr snapToGrid="0">
      <p:cViewPr>
        <p:scale>
          <a:sx n="50" d="100"/>
          <a:sy n="50" d="100"/>
        </p:scale>
        <p:origin x="348" y="5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36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-2682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8F53-036D-42D9-89B6-3327261F1ED8}" type="datetimeFigureOut">
              <a:rPr lang="zh-CN" altLang="en-US" smtClean="0"/>
              <a:pPr/>
              <a:t>2020/6/29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FE77F-D0C7-470C-AF9A-B00186779A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7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5B0FBECB-D1BF-4B92-B178-AA60E3B9FE43}" type="datetime1">
              <a:rPr lang="zh-CN" altLang="en-US"/>
              <a:pPr/>
              <a:t>2020/6/29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单击此处编辑母版文本样式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第二级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第三级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第四级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6BC31853-57FE-4155-A74E-EBB727E004B5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273732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882867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0269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20693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3490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24583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44195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583570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42328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04894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41301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5646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838543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08062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46605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457514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32329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71900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14622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51951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03208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27823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79981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4117353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83795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720842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298853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61974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6036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976593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056861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273858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955007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224746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444609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632882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2020/6/29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35940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77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83000">
              <a:srgbClr val="E6E3DE"/>
            </a:gs>
            <a:gs pos="20000">
              <a:srgbClr val="F7F4ED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281" y="1308606"/>
            <a:ext cx="6858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965734" y="-207685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4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6" name="矩形 5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1538288" y="2460973"/>
            <a:ext cx="1181100" cy="11811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3143249" y="3414714"/>
            <a:ext cx="1181100" cy="11811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443162" y="2762250"/>
            <a:ext cx="1000125" cy="1000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2627577" y="2926604"/>
            <a:ext cx="694267" cy="798513"/>
          </a:xfrm>
        </p:spPr>
        <p:txBody>
          <a:bodyPr/>
          <a:lstStyle>
            <a:lvl1pPr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4633457" y="2007344"/>
            <a:ext cx="5405967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633456" y="2703560"/>
            <a:ext cx="5882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82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972050" y="-1"/>
            <a:ext cx="7219950" cy="6934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676650" y="-1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6650" y="1158607"/>
            <a:ext cx="1295401" cy="117054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676650" y="2280173"/>
            <a:ext cx="1295401" cy="46540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381248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1085846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209556" y="1146672"/>
            <a:ext cx="1295401" cy="1170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085846" y="0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4972053" y="1158607"/>
            <a:ext cx="7219947" cy="1170543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800" b="1" dirty="0">
                <a:solidFill>
                  <a:schemeClr val="bg1"/>
                </a:solidFill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12"/>
          </p:nvPr>
        </p:nvSpPr>
        <p:spPr>
          <a:xfrm>
            <a:off x="5181606" y="2508676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13"/>
          </p:nvPr>
        </p:nvSpPr>
        <p:spPr>
          <a:xfrm>
            <a:off x="5181606" y="3256640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4"/>
          </p:nvPr>
        </p:nvSpPr>
        <p:spPr>
          <a:xfrm>
            <a:off x="5181606" y="4004604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15"/>
          </p:nvPr>
        </p:nvSpPr>
        <p:spPr>
          <a:xfrm>
            <a:off x="5181606" y="4752568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6"/>
          </p:nvPr>
        </p:nvSpPr>
        <p:spPr>
          <a:xfrm>
            <a:off x="5181606" y="5465653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7"/>
          </p:nvPr>
        </p:nvSpPr>
        <p:spPr>
          <a:xfrm>
            <a:off x="5181606" y="6213617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16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367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97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1393600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83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虚拟化的概念</a:t>
            </a:r>
            <a:endParaRPr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0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2970653"/>
            <a:ext cx="4549775" cy="4590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417056" y="39405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872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17" name="圆角矩形 16"/>
          <p:cNvSpPr/>
          <p:nvPr userDrawn="1"/>
        </p:nvSpPr>
        <p:spPr>
          <a:xfrm rot="10800000" flipV="1">
            <a:off x="695621" y="5695950"/>
            <a:ext cx="2850653" cy="611653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>
              <a:lnSpc>
                <a:spcPct val="13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-92075" y="5765944"/>
            <a:ext cx="4549775" cy="495156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1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9525" y="-4534"/>
            <a:ext cx="12217398" cy="685799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5874" y="-119287"/>
            <a:ext cx="2114352" cy="1286328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204912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010783" y="546001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420358" y="546001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010783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625145" y="848819"/>
              <a:ext cx="606880" cy="61485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54048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30439" y="-75035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156462" y="190422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 smtClean="0"/>
              <a:t>输入标题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162700" y="765847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输入文本输入</a:t>
            </a:r>
            <a:endParaRPr lang="zh-CN" altLang="en-US" dirty="0"/>
          </a:p>
        </p:txBody>
      </p:sp>
      <p:sp>
        <p:nvSpPr>
          <p:cNvPr id="25" name="矩形 24"/>
          <p:cNvSpPr/>
          <p:nvPr userDrawn="1"/>
        </p:nvSpPr>
        <p:spPr>
          <a:xfrm>
            <a:off x="6084353" y="252859"/>
            <a:ext cx="6133045" cy="750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1B0E9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 97"/>
          <p:cNvGrpSpPr/>
          <p:nvPr userDrawn="1"/>
        </p:nvGrpSpPr>
        <p:grpSpPr>
          <a:xfrm>
            <a:off x="8814189" y="329060"/>
            <a:ext cx="3441689" cy="573186"/>
            <a:chOff x="9284089" y="252855"/>
            <a:chExt cx="2907908" cy="484289"/>
          </a:xfrm>
        </p:grpSpPr>
        <p:grpSp>
          <p:nvGrpSpPr>
            <p:cNvPr id="27" name="组 98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29" name="组 100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2" y="220271"/>
                <a:chExt cx="1284096" cy="1266241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1537849" y="211344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Freeform 96"/>
                <p:cNvSpPr>
                  <a:spLocks/>
                </p:cNvSpPr>
                <p:nvPr/>
              </p:nvSpPr>
              <p:spPr bwMode="auto">
                <a:xfrm>
                  <a:off x="1804149" y="499515"/>
                  <a:ext cx="733646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28" name="文本框 99"/>
            <p:cNvSpPr txBox="1"/>
            <p:nvPr/>
          </p:nvSpPr>
          <p:spPr>
            <a:xfrm>
              <a:off x="9284089" y="252855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endPara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endParaRPr>
            </a:p>
          </p:txBody>
        </p:sp>
      </p:grpSp>
      <p:sp>
        <p:nvSpPr>
          <p:cNvPr id="40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48637" y="332859"/>
            <a:ext cx="4549775" cy="6096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</a:rPr>
              <a:t>输入副标题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763" y="-11821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494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437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dirty="0" err="1" smtClean="0"/>
              <a:t>OpenStack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任务实现</a:t>
            </a:r>
            <a:endParaRPr lang="zh-CN" altLang="en-US" dirty="0"/>
          </a:p>
        </p:txBody>
      </p:sp>
      <p:sp>
        <p:nvSpPr>
          <p:cNvPr id="39" name="圆角矩形 38"/>
          <p:cNvSpPr/>
          <p:nvPr userDrawn="1"/>
        </p:nvSpPr>
        <p:spPr>
          <a:xfrm>
            <a:off x="-304800" y="1844435"/>
            <a:ext cx="11168739" cy="4628936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 userDrawn="1"/>
        </p:nvSpPr>
        <p:spPr>
          <a:xfrm>
            <a:off x="-304800" y="1679335"/>
            <a:ext cx="11168739" cy="4628936"/>
          </a:xfrm>
          <a:prstGeom prst="roundRect">
            <a:avLst>
              <a:gd name="adj" fmla="val 0"/>
            </a:avLst>
          </a:prstGeom>
          <a:solidFill>
            <a:srgbClr val="7FC3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 userDrawn="1"/>
        </p:nvSpPr>
        <p:spPr>
          <a:xfrm rot="16200000" flipV="1">
            <a:off x="11799416" y="4424056"/>
            <a:ext cx="770655" cy="769253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 userDrawn="1"/>
        </p:nvSpPr>
        <p:spPr>
          <a:xfrm rot="16200000" flipV="1">
            <a:off x="11799416" y="5324189"/>
            <a:ext cx="770655" cy="769253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 userDrawn="1"/>
        </p:nvSpPr>
        <p:spPr>
          <a:xfrm rot="16200000" flipV="1">
            <a:off x="11799414" y="265667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 userDrawn="1"/>
        </p:nvSpPr>
        <p:spPr>
          <a:xfrm rot="16200000" flipV="1">
            <a:off x="11799414" y="3556806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 userDrawn="1"/>
        </p:nvSpPr>
        <p:spPr>
          <a:xfrm rot="16200000" flipV="1">
            <a:off x="11799416" y="173615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0595426" y="1609725"/>
            <a:ext cx="653596" cy="5248275"/>
          </a:xfrm>
        </p:spPr>
        <p:txBody>
          <a:bodyPr/>
          <a:lstStyle>
            <a:lvl2pPr marL="457200" indent="0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</a:lstStyle>
          <a:p>
            <a:pPr lvl="1"/>
            <a:endParaRPr lang="zh-CN" alt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32636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490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0" y="-124529"/>
            <a:ext cx="12192000" cy="698252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813050" y="2298700"/>
            <a:ext cx="59944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807449" y="4378592"/>
            <a:ext cx="1155701" cy="10443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9963149" y="3334284"/>
            <a:ext cx="1155701" cy="10443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820147" y="2289976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7600944" y="1245668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657348" y="4378592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657347" y="3334284"/>
            <a:ext cx="1155701" cy="1044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0" hasCustomPrompt="1"/>
          </p:nvPr>
        </p:nvSpPr>
        <p:spPr>
          <a:xfrm>
            <a:off x="4379409" y="2501900"/>
            <a:ext cx="2861681" cy="204876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zh-CN" altLang="en-US" sz="6600" b="1" dirty="0">
                <a:solidFill>
                  <a:schemeClr val="bg1"/>
                </a:solidFill>
              </a:defRPr>
            </a:lvl1pPr>
          </a:lstStyle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THANK</a:t>
            </a:r>
            <a:r>
              <a:rPr kumimoji="1" lang="zh-CN" altLang="en-US" sz="6600" b="1" dirty="0">
                <a:solidFill>
                  <a:schemeClr val="bg1"/>
                </a:solidFill>
              </a:rPr>
              <a:t> </a:t>
            </a:r>
            <a:endParaRPr kumimoji="1" lang="en-US" altLang="zh-CN" sz="6600" b="1" dirty="0">
              <a:solidFill>
                <a:schemeClr val="bg1"/>
              </a:solidFill>
            </a:endParaRPr>
          </a:p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YOU!</a:t>
            </a:r>
            <a:endParaRPr kumimoji="1" lang="zh-CN" altLang="en-US" sz="66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21" name="矩形 20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650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431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6" name="组合 5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接连接符 7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39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9D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61"/>
          <p:cNvSpPr>
            <a:spLocks noChangeArrowheads="1"/>
          </p:cNvSpPr>
          <p:nvPr userDrawn="1"/>
        </p:nvSpPr>
        <p:spPr bwMode="auto">
          <a:xfrm>
            <a:off x="7707257" y="2061376"/>
            <a:ext cx="2948042" cy="15696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9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818267" y="-10865"/>
            <a:ext cx="4754267" cy="2091637"/>
            <a:chOff x="3954098" y="-6470"/>
            <a:chExt cx="4322060" cy="1571477"/>
          </a:xfrm>
        </p:grpSpPr>
        <p:sp>
          <p:nvSpPr>
            <p:cNvPr id="13" name="矩形 12"/>
            <p:cNvSpPr/>
            <p:nvPr/>
          </p:nvSpPr>
          <p:spPr>
            <a:xfrm>
              <a:off x="3955678" y="-6469"/>
              <a:ext cx="2160240" cy="73307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6115918" y="-6470"/>
              <a:ext cx="2160240" cy="73307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6114884" y="725983"/>
              <a:ext cx="2160240" cy="733073"/>
            </a:xfrm>
            <a:prstGeom prst="rect">
              <a:avLst/>
            </a:prstGeom>
            <a:solidFill>
              <a:srgbClr val="76BF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3954098" y="726604"/>
              <a:ext cx="2160241" cy="733073"/>
            </a:xfrm>
            <a:prstGeom prst="rect">
              <a:avLst/>
            </a:prstGeom>
            <a:solidFill>
              <a:srgbClr val="428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955678" y="1459384"/>
              <a:ext cx="2160240" cy="10562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111726" y="1458948"/>
              <a:ext cx="2160240" cy="10562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74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41933" y="49353"/>
            <a:ext cx="1898679" cy="1562883"/>
            <a:chOff x="741933" y="49353"/>
            <a:chExt cx="1898679" cy="1562883"/>
          </a:xfrm>
        </p:grpSpPr>
        <p:sp>
          <p:nvSpPr>
            <p:cNvPr id="10" name="文本框 9"/>
            <p:cNvSpPr txBox="1"/>
            <p:nvPr/>
          </p:nvSpPr>
          <p:spPr>
            <a:xfrm>
              <a:off x="1301784" y="1229717"/>
              <a:ext cx="1338828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</a:t>
              </a:r>
              <a:r>
                <a:rPr lang="zh-CN" altLang="en-US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识云计算</a:t>
              </a:r>
              <a:endPara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6397" y="1150571"/>
              <a:ext cx="56297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41933" y="49353"/>
              <a:ext cx="1860579" cy="1095973"/>
              <a:chOff x="741933" y="49353"/>
              <a:chExt cx="1860579" cy="1095973"/>
            </a:xfrm>
          </p:grpSpPr>
          <p:cxnSp>
            <p:nvCxnSpPr>
              <p:cNvPr id="13" name="直接连接符 12"/>
              <p:cNvCxnSpPr/>
              <p:nvPr/>
            </p:nvCxnSpPr>
            <p:spPr bwMode="auto">
              <a:xfrm>
                <a:off x="845226" y="1145326"/>
                <a:ext cx="1757286" cy="0"/>
              </a:xfrm>
              <a:prstGeom prst="line">
                <a:avLst/>
              </a:prstGeom>
              <a:ln/>
              <a:ex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2"/>
          </p:nvPr>
        </p:nvSpPr>
        <p:spPr>
          <a:xfrm>
            <a:off x="619504" y="4012446"/>
            <a:ext cx="516890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zh-CN" altLang="en-US" sz="1100" dirty="0">
                <a:solidFill>
                  <a:schemeClr val="bg1"/>
                </a:solidFill>
              </a:defRPr>
            </a:lvl1pPr>
          </a:lstStyle>
          <a:p>
            <a:pPr marL="0" lvl="0" algn="r" defTabSz="914377"/>
            <a:endParaRPr lang="zh-CN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552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41933" y="49353"/>
            <a:ext cx="2066734" cy="1556858"/>
            <a:chOff x="741933" y="49353"/>
            <a:chExt cx="2066734" cy="1556858"/>
          </a:xfrm>
        </p:grpSpPr>
        <p:grpSp>
          <p:nvGrpSpPr>
            <p:cNvPr id="16" name="组合 15"/>
            <p:cNvGrpSpPr/>
            <p:nvPr/>
          </p:nvGrpSpPr>
          <p:grpSpPr>
            <a:xfrm>
              <a:off x="741933" y="49353"/>
              <a:ext cx="2066734" cy="1556858"/>
              <a:chOff x="741933" y="49353"/>
              <a:chExt cx="2066734" cy="155685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1239007" y="1226093"/>
                <a:ext cx="1569660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虚拟化的概念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直接连接符 19"/>
            <p:cNvCxnSpPr/>
            <p:nvPr/>
          </p:nvCxnSpPr>
          <p:spPr bwMode="auto">
            <a:xfrm>
              <a:off x="845226" y="1145326"/>
              <a:ext cx="1859874" cy="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805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13" name="组合 12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6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直接连接符 23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556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27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03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40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33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79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48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96" y="-20538"/>
            <a:ext cx="12208675" cy="37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04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61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ctr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423388"/>
            <a:ext cx="10363200" cy="1500187"/>
          </a:xfrm>
        </p:spPr>
        <p:txBody>
          <a:bodyPr anchor="ctr"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64" y="6525170"/>
            <a:ext cx="1224136" cy="3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0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5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20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90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50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577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560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08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3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25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86" r:id="rId4"/>
    <p:sldLayoutId id="2147483685" r:id="rId5"/>
    <p:sldLayoutId id="2147483652" r:id="rId6"/>
    <p:sldLayoutId id="2147483682" r:id="rId7"/>
    <p:sldLayoutId id="2147483679" r:id="rId8"/>
    <p:sldLayoutId id="2147483684" r:id="rId9"/>
    <p:sldLayoutId id="2147483683" r:id="rId10"/>
    <p:sldLayoutId id="2147483680" r:id="rId11"/>
    <p:sldLayoutId id="2147483681" r:id="rId12"/>
    <p:sldLayoutId id="2147483675" r:id="rId13"/>
    <p:sldLayoutId id="2147483676" r:id="rId14"/>
    <p:sldLayoutId id="2147483653" r:id="rId15"/>
    <p:sldLayoutId id="2147483654" r:id="rId16"/>
    <p:sldLayoutId id="2147483677" r:id="rId17"/>
    <p:sldLayoutId id="2147483678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08" y="6270172"/>
            <a:ext cx="1671983" cy="4545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787" y="65315"/>
            <a:ext cx="867677" cy="86767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-9969" y="1"/>
            <a:ext cx="261257" cy="93299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18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4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362813" y="4043423"/>
            <a:ext cx="24674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929774"/>
            <a:ext cx="779227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kern="100" spc="10" dirty="0" smtClean="0">
                <a:latin typeface="+mn-ea"/>
                <a:ea typeface="+mn-ea"/>
              </a:rPr>
              <a:t>       </a:t>
            </a:r>
            <a:r>
              <a:rPr lang="en-US" altLang="zh-CN" sz="3200" dirty="0" err="1">
                <a:latin typeface="+mn-ea"/>
                <a:ea typeface="+mn-ea"/>
              </a:rPr>
              <a:t>Kubernetes</a:t>
            </a:r>
            <a:r>
              <a:rPr lang="zh-CN" altLang="zh-CN" sz="3200" dirty="0">
                <a:latin typeface="+mn-ea"/>
                <a:ea typeface="+mn-ea"/>
              </a:rPr>
              <a:t>是</a:t>
            </a:r>
            <a:r>
              <a:rPr lang="en-US" altLang="zh-CN" sz="3200" dirty="0">
                <a:latin typeface="+mn-ea"/>
                <a:ea typeface="+mn-ea"/>
              </a:rPr>
              <a:t>Google</a:t>
            </a:r>
            <a:r>
              <a:rPr lang="zh-CN" altLang="zh-CN" sz="3200" dirty="0">
                <a:latin typeface="+mn-ea"/>
                <a:ea typeface="+mn-ea"/>
              </a:rPr>
              <a:t>开源的容器编排引擎，它提供了自动化部署、大规模可伸缩、应用容器化管理等功能。本项目通过两个任务介绍了</a:t>
            </a:r>
            <a:r>
              <a:rPr lang="en-US" altLang="zh-CN" sz="3200" dirty="0" err="1">
                <a:latin typeface="+mn-ea"/>
                <a:ea typeface="+mn-ea"/>
              </a:rPr>
              <a:t>Kubernetes</a:t>
            </a:r>
            <a:r>
              <a:rPr lang="zh-CN" altLang="zh-CN" sz="3200" dirty="0">
                <a:latin typeface="+mn-ea"/>
                <a:ea typeface="+mn-ea"/>
              </a:rPr>
              <a:t>的发展及其基本操作，并以</a:t>
            </a:r>
            <a:r>
              <a:rPr lang="en-US" altLang="zh-CN" sz="3200" dirty="0" err="1">
                <a:latin typeface="+mn-ea"/>
                <a:ea typeface="+mn-ea"/>
              </a:rPr>
              <a:t>CentOS</a:t>
            </a:r>
            <a:r>
              <a:rPr lang="en-US" altLang="zh-CN" sz="3200" dirty="0">
                <a:latin typeface="+mn-ea"/>
                <a:ea typeface="+mn-ea"/>
              </a:rPr>
              <a:t> 7</a:t>
            </a:r>
            <a:r>
              <a:rPr lang="zh-CN" altLang="zh-CN" sz="3200" dirty="0">
                <a:latin typeface="+mn-ea"/>
                <a:ea typeface="+mn-ea"/>
              </a:rPr>
              <a:t>操作系统为基础，介绍了</a:t>
            </a:r>
            <a:r>
              <a:rPr lang="en-US" altLang="zh-CN" sz="3200" dirty="0">
                <a:latin typeface="+mn-ea"/>
                <a:ea typeface="+mn-ea"/>
              </a:rPr>
              <a:t>使用kubeadm安装Kubernetes集群</a:t>
            </a:r>
            <a:r>
              <a:rPr lang="zh-CN" altLang="zh-CN" sz="3200" dirty="0">
                <a:latin typeface="+mn-ea"/>
                <a:ea typeface="+mn-ea"/>
              </a:rPr>
              <a:t>的方法和</a:t>
            </a:r>
            <a:r>
              <a:rPr lang="en-US" altLang="zh-CN" sz="3200" dirty="0" err="1">
                <a:latin typeface="+mn-ea"/>
                <a:ea typeface="+mn-ea"/>
              </a:rPr>
              <a:t>kubectl</a:t>
            </a:r>
            <a:r>
              <a:rPr lang="zh-CN" altLang="zh-CN" sz="3200" dirty="0">
                <a:latin typeface="+mn-ea"/>
                <a:ea typeface="+mn-ea"/>
              </a:rPr>
              <a:t>命令的使用方法。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17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975011"/>
          </a:xfrm>
        </p:spPr>
        <p:txBody>
          <a:bodyPr/>
          <a:lstStyle/>
          <a:p>
            <a:r>
              <a:rPr lang="zh-CN" altLang="en-US" dirty="0" smtClean="0"/>
              <a:t>知识目标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181606" y="2583022"/>
            <a:ext cx="676274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的主要目标和增强功能。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的核心概念。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的架构。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了解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的工作流程。</a:t>
            </a:r>
          </a:p>
        </p:txBody>
      </p:sp>
    </p:spTree>
    <p:extLst>
      <p:ext uri="{BB962C8B-B14F-4D97-AF65-F5344CB8AC3E}">
        <p14:creationId xmlns:p14="http://schemas.microsoft.com/office/powerpoint/2010/main" val="36101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975011"/>
          </a:xfrm>
        </p:spPr>
        <p:txBody>
          <a:bodyPr/>
          <a:lstStyle/>
          <a:p>
            <a:r>
              <a:rPr lang="zh-CN" altLang="en-US" dirty="0" smtClean="0"/>
              <a:t>能力目标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181606" y="2583022"/>
            <a:ext cx="68008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掌握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集群的安装方法。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dirty="0" smtClean="0">
                <a:solidFill>
                  <a:schemeClr val="bg1"/>
                </a:solidFill>
                <a:latin typeface="+mn-ea"/>
                <a:ea typeface="+mn-ea"/>
              </a:rPr>
              <a:t>掌握</a:t>
            </a:r>
            <a:r>
              <a:rPr lang="en-US" altLang="zh-CN" sz="2800" dirty="0" err="1">
                <a:solidFill>
                  <a:schemeClr val="bg1"/>
                </a:solidFill>
                <a:latin typeface="+mn-ea"/>
                <a:ea typeface="+mn-ea"/>
              </a:rPr>
              <a:t>Kubernetes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下</a:t>
            </a:r>
            <a:r>
              <a:rPr lang="en-US" altLang="zh-CN" sz="2800" dirty="0">
                <a:solidFill>
                  <a:schemeClr val="bg1"/>
                </a:solidFill>
                <a:latin typeface="+mn-ea"/>
                <a:ea typeface="+mn-ea"/>
              </a:rPr>
              <a:t>Dashboard</a:t>
            </a:r>
            <a:r>
              <a:rPr lang="zh-CN" altLang="zh-CN" sz="2800" dirty="0">
                <a:solidFill>
                  <a:schemeClr val="bg1"/>
                </a:solidFill>
                <a:latin typeface="+mn-ea"/>
                <a:ea typeface="+mn-ea"/>
              </a:rPr>
              <a:t>的安装方法。</a:t>
            </a:r>
          </a:p>
        </p:txBody>
      </p:sp>
    </p:spTree>
    <p:extLst>
      <p:ext uri="{BB962C8B-B14F-4D97-AF65-F5344CB8AC3E}">
        <p14:creationId xmlns:p14="http://schemas.microsoft.com/office/powerpoint/2010/main" val="175565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Kubernetes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的发展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612014" cy="1645402"/>
            <a:chOff x="2638525" y="3259707"/>
            <a:chExt cx="6612014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6683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Kubernetes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的基本操作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362813" y="4043423"/>
            <a:ext cx="24674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23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 algn="just" fontAlgn="ctr">
              <a:lnSpc>
                <a:spcPct val="150000"/>
              </a:lnSpc>
            </a:pPr>
            <a:r>
              <a:rPr lang="en-US" altLang="zh-CN" sz="2800" dirty="0">
                <a:latin typeface="+mn-ea"/>
                <a:ea typeface="+mn-ea"/>
              </a:rPr>
              <a:t>Swarm</a:t>
            </a:r>
            <a:r>
              <a:rPr lang="zh-CN" altLang="zh-CN" sz="2800" dirty="0">
                <a:latin typeface="+mn-ea"/>
                <a:ea typeface="+mn-ea"/>
              </a:rPr>
              <a:t>作为</a:t>
            </a:r>
            <a:r>
              <a:rPr lang="en-US" altLang="zh-CN" sz="2800" dirty="0" err="1">
                <a:latin typeface="+mn-ea"/>
                <a:ea typeface="+mn-ea"/>
              </a:rPr>
              <a:t>Docker</a:t>
            </a:r>
            <a:r>
              <a:rPr lang="zh-CN" altLang="zh-CN" sz="2800" dirty="0">
                <a:latin typeface="+mn-ea"/>
                <a:ea typeface="+mn-ea"/>
              </a:rPr>
              <a:t>开发的原生的集群管理引擎，虽然有众多优点，但是仍存在依赖平台、不提供存储选项、监控不良等问题，工程师小王通过查阅资料发现，</a:t>
            </a:r>
            <a:r>
              <a:rPr lang="en-US" altLang="zh-CN" sz="2800" dirty="0" err="1">
                <a:latin typeface="+mn-ea"/>
                <a:ea typeface="+mn-ea"/>
              </a:rPr>
              <a:t>Kubernetes</a:t>
            </a:r>
            <a:r>
              <a:rPr lang="zh-CN" altLang="zh-CN" sz="2800" dirty="0">
                <a:latin typeface="+mn-ea"/>
                <a:ea typeface="+mn-ea"/>
              </a:rPr>
              <a:t>作为</a:t>
            </a:r>
            <a:r>
              <a:rPr lang="en-US" altLang="zh-CN" sz="2800" dirty="0">
                <a:latin typeface="+mn-ea"/>
                <a:ea typeface="+mn-ea"/>
              </a:rPr>
              <a:t>Google</a:t>
            </a:r>
            <a:r>
              <a:rPr lang="zh-CN" altLang="zh-CN" sz="2800" dirty="0">
                <a:latin typeface="+mn-ea"/>
                <a:ea typeface="+mn-ea"/>
              </a:rPr>
              <a:t>开源的一个容器编排引擎，较好地解决了这些问题。小王在对</a:t>
            </a:r>
            <a:r>
              <a:rPr lang="en-US" altLang="zh-CN" sz="2800" dirty="0" err="1">
                <a:latin typeface="+mn-ea"/>
                <a:ea typeface="+mn-ea"/>
              </a:rPr>
              <a:t>Kubernetes</a:t>
            </a:r>
            <a:r>
              <a:rPr lang="zh-CN" altLang="zh-CN" sz="2800" dirty="0">
                <a:latin typeface="+mn-ea"/>
                <a:ea typeface="+mn-ea"/>
              </a:rPr>
              <a:t>技术进行调研后，编写了</a:t>
            </a:r>
            <a:r>
              <a:rPr lang="en-US" altLang="zh-CN" sz="2800" dirty="0" err="1">
                <a:latin typeface="+mn-ea"/>
                <a:ea typeface="+mn-ea"/>
              </a:rPr>
              <a:t>Kubernetes</a:t>
            </a:r>
            <a:r>
              <a:rPr lang="zh-CN" altLang="zh-CN" sz="2800" dirty="0">
                <a:latin typeface="+mn-ea"/>
                <a:ea typeface="+mn-ea"/>
              </a:rPr>
              <a:t>的安装手册，以供公司相关技术人员学习，并在公司内部推广该技术。</a:t>
            </a:r>
            <a:endParaRPr lang="en-US" altLang="zh-CN" sz="2800" dirty="0" smtClean="0">
              <a:latin typeface="+mn-ea"/>
              <a:ea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820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任务要求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7208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7.1.1 </a:t>
            </a:r>
            <a:r>
              <a:rPr lang="en-US" altLang="zh-CN" sz="2800" dirty="0" err="1" smtClean="0">
                <a:latin typeface="+mn-ea"/>
                <a:ea typeface="+mn-ea"/>
              </a:rPr>
              <a:t>Kubernetes</a:t>
            </a:r>
            <a:r>
              <a:rPr lang="zh-CN" altLang="en-US" sz="2800" dirty="0" smtClean="0">
                <a:latin typeface="+mn-ea"/>
                <a:ea typeface="+mn-ea"/>
              </a:rPr>
              <a:t>简介</a:t>
            </a:r>
            <a:endParaRPr lang="en-US" altLang="zh-CN" sz="28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用于管理云平台中多个主机的容器化应用，是一个全新的基于容器技术的分布式架构领先方案。它在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技术的基础上，为容器化的应用提供部署运行、资源调度、服务发现和动态伸缩等一系列功能，提高了大规模容器集群管理的便捷性。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的主要目标是让部署容器化的应用简单且高效，提供了一种应用部署、规划、更新、维护机制。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099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 algn="just" fontAlgn="ctr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作为一个完备的分布式系统支撑平台，具有完备的集群管理能力。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集群在多个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节点之间进行协调，提供了一个统一的可编程的模型，它具有以下几个方面的增强功能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）强大故障发现和自我修复能力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）高集群利用率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）组织和分组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）弹性伸缩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）滚动升级。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4343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7.1.2 </a:t>
            </a:r>
            <a:r>
              <a:rPr lang="en-US" altLang="zh-CN" sz="2800" dirty="0" err="1" smtClean="0">
                <a:latin typeface="+mn-ea"/>
                <a:ea typeface="+mn-ea"/>
              </a:rPr>
              <a:t>Kubernetes</a:t>
            </a:r>
            <a:r>
              <a:rPr lang="zh-CN" altLang="en-US" sz="2800" dirty="0" smtClean="0">
                <a:latin typeface="+mn-ea"/>
                <a:ea typeface="+mn-ea"/>
              </a:rPr>
              <a:t>核心概念</a:t>
            </a:r>
            <a:endParaRPr lang="en-US" altLang="zh-CN" sz="28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Master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Master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集群中的控制节点，一般会独自占据一个服务器，负责管理集群，提供了集群的资源数据访问入口。</a:t>
            </a:r>
            <a:r>
              <a:rPr lang="en-US" altLang="zh-CN" sz="2400" dirty="0">
                <a:latin typeface="+mn-ea"/>
                <a:ea typeface="+mn-ea"/>
              </a:rPr>
              <a:t>Master</a:t>
            </a:r>
            <a:r>
              <a:rPr lang="zh-CN" altLang="zh-CN" sz="2400" dirty="0">
                <a:latin typeface="+mn-ea"/>
                <a:ea typeface="+mn-ea"/>
              </a:rPr>
              <a:t>节点包含以下关键组件。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API </a:t>
            </a:r>
            <a:r>
              <a:rPr lang="en-US" altLang="zh-CN" sz="2400" dirty="0" smtClean="0">
                <a:latin typeface="+mn-ea"/>
                <a:ea typeface="+mn-ea"/>
              </a:rPr>
              <a:t>Server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Controller </a:t>
            </a:r>
            <a:r>
              <a:rPr lang="en-US" altLang="zh-CN" sz="2400" dirty="0" smtClean="0">
                <a:latin typeface="+mn-ea"/>
                <a:ea typeface="+mn-ea"/>
              </a:rPr>
              <a:t>Manager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smtClean="0">
                <a:latin typeface="+mn-ea"/>
                <a:ea typeface="+mn-ea"/>
              </a:rPr>
              <a:t>Scheduler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 smtClean="0">
                <a:latin typeface="+mn-ea"/>
                <a:ea typeface="+mn-ea"/>
              </a:rPr>
              <a:t>etcd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02701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924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集群架构中运行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的服务节点，每个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主要由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个模块组成，它们负责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的创建、启动、监控、重启、销毁，并实现软件模式的负载均衡。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runtime</a:t>
            </a:r>
            <a:r>
              <a:rPr lang="zh-CN" altLang="zh-CN" sz="2400" dirty="0">
                <a:latin typeface="+mn-ea"/>
                <a:ea typeface="+mn-ea"/>
              </a:rPr>
              <a:t>：指的是容器运行环境，目前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支持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环境。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>
                <a:latin typeface="+mn-ea"/>
                <a:ea typeface="+mn-ea"/>
              </a:rPr>
              <a:t>kube</a:t>
            </a:r>
            <a:r>
              <a:rPr lang="en-US" altLang="zh-CN" sz="2400" dirty="0">
                <a:latin typeface="+mn-ea"/>
                <a:ea typeface="+mn-ea"/>
              </a:rPr>
              <a:t>-proxy</a:t>
            </a:r>
            <a:r>
              <a:rPr lang="zh-CN" altLang="zh-CN" sz="2400" dirty="0">
                <a:latin typeface="+mn-ea"/>
                <a:ea typeface="+mn-ea"/>
              </a:rPr>
              <a:t>：实现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en-US" altLang="zh-CN" sz="2400" dirty="0">
                <a:latin typeface="+mn-ea"/>
                <a:ea typeface="+mn-ea"/>
              </a:rPr>
              <a:t> Service</a:t>
            </a:r>
            <a:r>
              <a:rPr lang="zh-CN" altLang="zh-CN" sz="2400" dirty="0">
                <a:latin typeface="+mn-ea"/>
                <a:ea typeface="+mn-ea"/>
              </a:rPr>
              <a:t>的通信与负载均衡机制的重要组件。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>
                <a:latin typeface="+mn-ea"/>
                <a:ea typeface="+mn-ea"/>
              </a:rPr>
              <a:t>kubelet</a:t>
            </a:r>
            <a:r>
              <a:rPr lang="zh-CN" altLang="zh-CN" sz="2400" dirty="0">
                <a:latin typeface="+mn-ea"/>
                <a:ea typeface="+mn-ea"/>
              </a:rPr>
              <a:t>：是</a:t>
            </a:r>
            <a:r>
              <a:rPr lang="en-US" altLang="zh-CN" sz="2400" dirty="0">
                <a:latin typeface="+mn-ea"/>
                <a:ea typeface="+mn-ea"/>
              </a:rPr>
              <a:t>Master</a:t>
            </a:r>
            <a:r>
              <a:rPr lang="zh-CN" altLang="zh-CN" sz="2400" dirty="0">
                <a:latin typeface="+mn-ea"/>
                <a:ea typeface="+mn-ea"/>
              </a:rPr>
              <a:t>在每个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上的代理，是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上最重要的模块，它负责维护和管理该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上的所有容器，但是如果某容器不是通过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创建的，则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不会管理此容器。</a:t>
            </a: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7471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25470"/>
            <a:ext cx="11695723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包含的信息如下。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地址：主机的</a:t>
            </a:r>
            <a:r>
              <a:rPr lang="en-US" altLang="zh-CN" sz="2400" dirty="0">
                <a:latin typeface="+mn-ea"/>
                <a:ea typeface="+mn-ea"/>
              </a:rPr>
              <a:t>IP</a:t>
            </a:r>
            <a:r>
              <a:rPr lang="zh-CN" altLang="zh-CN" sz="2400" dirty="0">
                <a:latin typeface="+mn-ea"/>
                <a:ea typeface="+mn-ea"/>
              </a:rPr>
              <a:t>地址或</a:t>
            </a:r>
            <a:r>
              <a:rPr lang="en-US" altLang="zh-CN" sz="2400" dirty="0">
                <a:latin typeface="+mn-ea"/>
                <a:ea typeface="+mn-ea"/>
              </a:rPr>
              <a:t>Node ID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的运行状态：包含</a:t>
            </a:r>
            <a:r>
              <a:rPr lang="en-US" altLang="zh-CN" sz="2400" dirty="0">
                <a:latin typeface="+mn-ea"/>
                <a:ea typeface="+mn-ea"/>
              </a:rPr>
              <a:t>Pending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Running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Terminated</a:t>
            </a:r>
            <a:r>
              <a:rPr lang="zh-CN" altLang="zh-CN" sz="2400" dirty="0">
                <a:latin typeface="+mn-ea"/>
                <a:ea typeface="+mn-ea"/>
              </a:rPr>
              <a:t>三种状态。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Node Condition</a:t>
            </a:r>
            <a:r>
              <a:rPr lang="zh-CN" altLang="zh-CN" sz="2400" dirty="0">
                <a:latin typeface="+mn-ea"/>
                <a:ea typeface="+mn-ea"/>
              </a:rPr>
              <a:t>：描述</a:t>
            </a:r>
            <a:r>
              <a:rPr lang="en-US" altLang="zh-CN" sz="2400" dirty="0">
                <a:latin typeface="+mn-ea"/>
                <a:ea typeface="+mn-ea"/>
              </a:rPr>
              <a:t>Running</a:t>
            </a:r>
            <a:r>
              <a:rPr lang="zh-CN" altLang="zh-CN" sz="2400" dirty="0">
                <a:latin typeface="+mn-ea"/>
                <a:ea typeface="+mn-ea"/>
              </a:rPr>
              <a:t>状态下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的运行条件，只有</a:t>
            </a:r>
            <a:r>
              <a:rPr lang="en-US" altLang="zh-CN" sz="2400" dirty="0">
                <a:latin typeface="+mn-ea"/>
                <a:ea typeface="+mn-ea"/>
              </a:rPr>
              <a:t>Ready</a:t>
            </a:r>
            <a:r>
              <a:rPr lang="zh-CN" altLang="zh-CN" sz="2400" dirty="0">
                <a:latin typeface="+mn-ea"/>
                <a:ea typeface="+mn-ea"/>
              </a:rPr>
              <a:t>一种状态。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系统容量：描述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可用的系统资源，包括</a:t>
            </a:r>
            <a:r>
              <a:rPr lang="en-US" altLang="zh-CN" sz="2400" dirty="0">
                <a:latin typeface="+mn-ea"/>
                <a:ea typeface="+mn-ea"/>
              </a:rPr>
              <a:t>CPU</a:t>
            </a:r>
            <a:r>
              <a:rPr lang="zh-CN" altLang="zh-CN" sz="2400" dirty="0">
                <a:latin typeface="+mn-ea"/>
                <a:ea typeface="+mn-ea"/>
              </a:rPr>
              <a:t>、内存、最大可调度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数量等。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）其他：内核版本、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版本等。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87732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的基本操作单元，也是应用运行的载体。整个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系统都是围绕着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展开的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其实有两种类型：静态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和普通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9064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一个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中的应用容器共享一组资源。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PID</a:t>
            </a:r>
            <a:r>
              <a:rPr lang="zh-CN" altLang="zh-CN" sz="2400" dirty="0">
                <a:latin typeface="+mn-ea"/>
                <a:ea typeface="+mn-ea"/>
              </a:rPr>
              <a:t>命名空间：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中的不同应用程序可以看到其他应用程序的进程</a:t>
            </a:r>
            <a:r>
              <a:rPr lang="en-US" altLang="zh-CN" sz="2400" dirty="0">
                <a:latin typeface="+mn-ea"/>
                <a:ea typeface="+mn-ea"/>
              </a:rPr>
              <a:t>ID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）网络命名空间：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中的多个容器能够访问同一个</a:t>
            </a:r>
            <a:r>
              <a:rPr lang="en-US" altLang="zh-CN" sz="2400" dirty="0">
                <a:latin typeface="+mn-ea"/>
                <a:ea typeface="+mn-ea"/>
              </a:rPr>
              <a:t>IP</a:t>
            </a:r>
            <a:r>
              <a:rPr lang="zh-CN" altLang="zh-CN" sz="2400" dirty="0">
                <a:latin typeface="+mn-ea"/>
                <a:ea typeface="+mn-ea"/>
              </a:rPr>
              <a:t>地址和端口范围。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IPC</a:t>
            </a:r>
            <a:r>
              <a:rPr lang="zh-CN" altLang="zh-CN" sz="2400" dirty="0">
                <a:latin typeface="+mn-ea"/>
                <a:ea typeface="+mn-ea"/>
              </a:rPr>
              <a:t>命名空间：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中的多个容器能够使用</a:t>
            </a:r>
            <a:r>
              <a:rPr lang="en-US" altLang="zh-CN" sz="2400" dirty="0">
                <a:latin typeface="+mn-ea"/>
                <a:ea typeface="+mn-ea"/>
              </a:rPr>
              <a:t>System V IPC</a:t>
            </a:r>
            <a:r>
              <a:rPr lang="zh-CN" altLang="zh-CN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POSIX</a:t>
            </a:r>
            <a:r>
              <a:rPr lang="zh-CN" altLang="zh-CN" sz="2400" dirty="0">
                <a:latin typeface="+mn-ea"/>
                <a:ea typeface="+mn-ea"/>
              </a:rPr>
              <a:t>消息队列进行通信。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UTS</a:t>
            </a:r>
            <a:r>
              <a:rPr lang="zh-CN" altLang="zh-CN" sz="2400" dirty="0">
                <a:latin typeface="+mn-ea"/>
                <a:ea typeface="+mn-ea"/>
              </a:rPr>
              <a:t>命名空间：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中的多个容器共享一个主机名。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）共享存储卷：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中的各个容器可以访问在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级别定义的卷。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9482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Replication Controller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当应用托管在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后，</a:t>
            </a:r>
            <a:r>
              <a:rPr lang="en-US" altLang="zh-CN" sz="2400" dirty="0">
                <a:latin typeface="+mn-ea"/>
                <a:ea typeface="+mn-ea"/>
              </a:rPr>
              <a:t>Replication Controller</a:t>
            </a: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）负责保证应用持续运行。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用于管理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的副本，保证集群中存在指定数量的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副本。当集群中副本的数量大于指定数量时，会终止指定数量之外的多余容器；反之，会启动少于指定数量的容器，以保证数量不变。在此基础上，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还提供了一些更高级的特性，如弹性伸缩、动态扩容和滚动升级等。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9768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为了适应快速的业务需求，微服务架构已经逐渐成为主流，微服务架构的应用需要有非常好的服务编排支持。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是真实应用服务的抽象，定义了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的逻辑上的集合和访问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集合的策略。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将代理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对外表现为一个单一的访问接口，外部不需要了解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如何运行，这给扩展和维护带来了很多好处，提供了一套简化的服务代理和发现机制。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5746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中的任意</a:t>
            </a:r>
            <a:r>
              <a:rPr lang="en-US" altLang="zh-CN" sz="2400" dirty="0">
                <a:latin typeface="+mn-ea"/>
                <a:ea typeface="+mn-ea"/>
              </a:rPr>
              <a:t>API</a:t>
            </a:r>
            <a:r>
              <a:rPr lang="zh-CN" altLang="zh-CN" sz="2400" dirty="0">
                <a:latin typeface="+mn-ea"/>
                <a:ea typeface="+mn-ea"/>
              </a:rPr>
              <a:t>对象都是通过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进行标识的，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以</a:t>
            </a:r>
            <a:r>
              <a:rPr lang="en-US" altLang="zh-CN" sz="2400" dirty="0">
                <a:latin typeface="+mn-ea"/>
                <a:ea typeface="+mn-ea"/>
              </a:rPr>
              <a:t>key/value</a:t>
            </a:r>
            <a:r>
              <a:rPr lang="zh-CN" altLang="zh-CN" sz="2400" dirty="0">
                <a:latin typeface="+mn-ea"/>
                <a:ea typeface="+mn-ea"/>
              </a:rPr>
              <a:t>的形式附加到各种对象上，如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等，以识别这些对象并管理关联关系等，如管理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的关联关系。一个资源对象可以定义任意数量的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，同一个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也可以被添加到任意数量的资源对象上。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Service</a:t>
            </a:r>
            <a:r>
              <a:rPr lang="zh-CN" altLang="zh-CN" sz="2400" dirty="0">
                <a:latin typeface="+mn-ea"/>
                <a:ea typeface="+mn-ea"/>
              </a:rPr>
              <a:t>运行的基础，二者通过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来关联</a:t>
            </a:r>
            <a:r>
              <a:rPr lang="en-US" altLang="zh-CN" sz="2400" dirty="0">
                <a:latin typeface="+mn-ea"/>
                <a:ea typeface="+mn-ea"/>
              </a:rPr>
              <a:t>Node</a:t>
            </a:r>
            <a:r>
              <a:rPr lang="zh-CN" altLang="zh-CN" sz="2400" dirty="0">
                <a:latin typeface="+mn-ea"/>
                <a:ea typeface="+mn-ea"/>
              </a:rPr>
              <a:t>上运行的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可以通过给指定的资源对象捆绑一个或者多个不同的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来实现多维度的资源分组管理功能，以便于灵活、方便地进行资源分配、调度、配置等。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264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常用的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分为如下几类。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）版本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release":"stable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release":"canary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）环境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"environment":"</a:t>
            </a:r>
            <a:r>
              <a:rPr lang="en-US" altLang="zh-CN" sz="2400" dirty="0" err="1">
                <a:latin typeface="+mn-ea"/>
                <a:ea typeface="+mn-ea"/>
              </a:rPr>
              <a:t>dev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"environment":"</a:t>
            </a:r>
            <a:r>
              <a:rPr lang="en-US" altLang="zh-CN" sz="2400" dirty="0" err="1">
                <a:latin typeface="+mn-ea"/>
                <a:ea typeface="+mn-ea"/>
              </a:rPr>
              <a:t>qa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environment":"production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）架构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tier":"frontend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tier":"backend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tier":"middleware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）分区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"partition":"</a:t>
            </a:r>
            <a:r>
              <a:rPr lang="en-US" altLang="zh-CN" sz="2400" dirty="0" err="1">
                <a:latin typeface="+mn-ea"/>
                <a:ea typeface="+mn-ea"/>
              </a:rPr>
              <a:t>customerA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"partition":"</a:t>
            </a:r>
            <a:r>
              <a:rPr lang="en-US" altLang="zh-CN" sz="2400" dirty="0" err="1">
                <a:latin typeface="+mn-ea"/>
                <a:ea typeface="+mn-ea"/>
              </a:rPr>
              <a:t>customerB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）质量管控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track":"daily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en-US" altLang="zh-CN" sz="2400" dirty="0" err="1">
                <a:latin typeface="+mn-ea"/>
                <a:ea typeface="+mn-ea"/>
              </a:rPr>
              <a:t>track":"weekly</a:t>
            </a:r>
            <a:r>
              <a:rPr lang="en-US" altLang="zh-CN" sz="2400" dirty="0">
                <a:latin typeface="+mn-ea"/>
                <a:ea typeface="+mn-ea"/>
              </a:rPr>
              <a:t>"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0013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中能够被多个容器访问的共享目录。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被定义在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上，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内的容器可以访问、挂载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的生命周期相同，与具体的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zh-CN" sz="2400" dirty="0">
                <a:latin typeface="+mn-ea"/>
                <a:ea typeface="+mn-ea"/>
              </a:rPr>
              <a:t>容器生命周期不相关，某个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容器删除或终止时，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中的数据不会丢失。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支持</a:t>
            </a:r>
            <a:r>
              <a:rPr lang="en-US" altLang="zh-CN" sz="2400" dirty="0" err="1">
                <a:latin typeface="+mn-ea"/>
                <a:ea typeface="+mn-ea"/>
              </a:rPr>
              <a:t>EmptyDir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HostPath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NFS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ISCSI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GlusterFS</a:t>
            </a:r>
            <a:r>
              <a:rPr lang="zh-CN" altLang="zh-CN" sz="2400" dirty="0">
                <a:latin typeface="+mn-ea"/>
                <a:ea typeface="+mn-ea"/>
              </a:rPr>
              <a:t>等类型的文件系统。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0575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7.1.3 </a:t>
            </a:r>
            <a:r>
              <a:rPr lang="en-US" altLang="zh-CN" sz="2800" dirty="0" err="1" smtClean="0">
                <a:latin typeface="+mn-ea"/>
                <a:ea typeface="+mn-ea"/>
              </a:rPr>
              <a:t>Kubernetes</a:t>
            </a:r>
            <a:r>
              <a:rPr lang="zh-CN" altLang="en-US" sz="2800" dirty="0" smtClean="0">
                <a:latin typeface="+mn-ea"/>
                <a:ea typeface="+mn-ea"/>
              </a:rPr>
              <a:t>的架构和操作流程</a:t>
            </a:r>
            <a:endParaRPr lang="en-US" altLang="zh-CN" sz="28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  <p:sp>
        <p:nvSpPr>
          <p:cNvPr id="2" name="矩形 1"/>
          <p:cNvSpPr/>
          <p:nvPr/>
        </p:nvSpPr>
        <p:spPr>
          <a:xfrm>
            <a:off x="496277" y="2703703"/>
            <a:ext cx="42662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120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spc="1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zh-CN" sz="2400" kern="100" spc="10" dirty="0">
                <a:latin typeface="+mn-ea"/>
                <a:ea typeface="+mn-ea"/>
                <a:cs typeface="Times New Roman" panose="02020603050405020304" pitchFamily="18" charset="0"/>
              </a:rPr>
              <a:t>．</a:t>
            </a:r>
            <a:r>
              <a:rPr lang="en-US" altLang="zh-CN" sz="2400" kern="100" spc="10" dirty="0" err="1">
                <a:latin typeface="+mn-ea"/>
                <a:ea typeface="+mn-ea"/>
                <a:cs typeface="Times New Roman" panose="02020603050405020304" pitchFamily="18" charset="0"/>
              </a:rPr>
              <a:t>Kubernetes</a:t>
            </a:r>
            <a:r>
              <a:rPr lang="zh-CN" altLang="zh-CN" sz="2400" kern="100" spc="10" dirty="0">
                <a:latin typeface="+mn-ea"/>
                <a:ea typeface="+mn-ea"/>
                <a:cs typeface="Times New Roman" panose="02020603050405020304" pitchFamily="18" charset="0"/>
              </a:rPr>
              <a:t>的架构</a:t>
            </a:r>
            <a:endParaRPr lang="zh-CN" altLang="zh-CN" sz="2400" spc="1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indent="6120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 err="1">
                <a:latin typeface="+mn-ea"/>
                <a:ea typeface="+mn-ea"/>
              </a:rPr>
              <a:t>Kubernetes</a:t>
            </a:r>
            <a:r>
              <a:rPr lang="zh-CN" altLang="zh-CN" sz="2400" kern="100" dirty="0">
                <a:latin typeface="+mn-ea"/>
                <a:ea typeface="+mn-ea"/>
              </a:rPr>
              <a:t>集群包含节点代理</a:t>
            </a:r>
            <a:r>
              <a:rPr lang="en-US" altLang="zh-CN" sz="2400" kern="100" dirty="0" err="1">
                <a:latin typeface="+mn-ea"/>
                <a:ea typeface="+mn-ea"/>
              </a:rPr>
              <a:t>kubelet</a:t>
            </a:r>
            <a:r>
              <a:rPr lang="zh-CN" altLang="zh-CN" sz="2400" kern="100" dirty="0">
                <a:latin typeface="+mn-ea"/>
                <a:ea typeface="+mn-ea"/>
              </a:rPr>
              <a:t>和</a:t>
            </a:r>
            <a:r>
              <a:rPr lang="en-US" altLang="zh-CN" sz="2400" kern="100" dirty="0">
                <a:latin typeface="+mn-ea"/>
                <a:ea typeface="+mn-ea"/>
              </a:rPr>
              <a:t>Master</a:t>
            </a:r>
            <a:r>
              <a:rPr lang="zh-CN" altLang="zh-CN" sz="2400" kern="100" dirty="0">
                <a:latin typeface="+mn-ea"/>
                <a:ea typeface="+mn-ea"/>
              </a:rPr>
              <a:t>组件，一切都基于分布式的存储系统。</a:t>
            </a:r>
            <a:r>
              <a:rPr lang="en-US" altLang="zh-CN" sz="2400" kern="100" dirty="0" err="1">
                <a:latin typeface="+mn-ea"/>
                <a:ea typeface="+mn-ea"/>
              </a:rPr>
              <a:t>Kubernetes</a:t>
            </a:r>
            <a:r>
              <a:rPr lang="zh-CN" altLang="zh-CN" sz="2400" kern="100" dirty="0">
                <a:latin typeface="+mn-ea"/>
                <a:ea typeface="+mn-ea"/>
              </a:rPr>
              <a:t>架构如图</a:t>
            </a:r>
            <a:r>
              <a:rPr lang="en-US" altLang="zh-CN" sz="2400" kern="100" dirty="0">
                <a:latin typeface="+mn-ea"/>
                <a:ea typeface="+mn-ea"/>
              </a:rPr>
              <a:t>7-1</a:t>
            </a:r>
            <a:r>
              <a:rPr lang="zh-CN" altLang="zh-CN" sz="2400" kern="100" dirty="0">
                <a:latin typeface="+mn-ea"/>
                <a:ea typeface="+mn-ea"/>
              </a:rPr>
              <a:t>所示。</a:t>
            </a:r>
            <a:endParaRPr lang="zh-CN" altLang="zh-CN" sz="2400" kern="100" dirty="0">
              <a:effectLst/>
              <a:latin typeface="+mn-ea"/>
              <a:ea typeface="+mn-ea"/>
            </a:endParaRPr>
          </a:p>
        </p:txBody>
      </p:sp>
      <p:pic>
        <p:nvPicPr>
          <p:cNvPr id="1026" name="Picture 2" descr="7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299" y="2113852"/>
            <a:ext cx="4907851" cy="4461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804095" y="6575066"/>
            <a:ext cx="29318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sz="2000" kern="100" spc="10" dirty="0">
                <a:latin typeface="+mn-ea"/>
                <a:ea typeface="+mn-ea"/>
              </a:rPr>
              <a:t>7-1  </a:t>
            </a:r>
            <a:r>
              <a:rPr lang="en-US" altLang="zh-CN" sz="2000" kern="100" spc="10" dirty="0" err="1">
                <a:latin typeface="+mn-ea"/>
                <a:ea typeface="+mn-ea"/>
              </a:rPr>
              <a:t>Kubernetes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架构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178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的架构包括以下内容。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en-US" altLang="zh-CN" sz="2400" dirty="0">
                <a:latin typeface="+mn-ea"/>
                <a:ea typeface="+mn-ea"/>
              </a:rPr>
              <a:t> Master</a:t>
            </a:r>
            <a:r>
              <a:rPr lang="zh-CN" altLang="zh-CN" sz="2400" dirty="0">
                <a:latin typeface="+mn-ea"/>
                <a:ea typeface="+mn-ea"/>
              </a:rPr>
              <a:t>服务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en-US" altLang="zh-CN" sz="2400" dirty="0">
                <a:latin typeface="+mn-ea"/>
                <a:ea typeface="+mn-ea"/>
              </a:rPr>
              <a:t> Master</a:t>
            </a:r>
            <a:r>
              <a:rPr lang="zh-CN" altLang="zh-CN" sz="2400" dirty="0">
                <a:latin typeface="+mn-ea"/>
                <a:ea typeface="+mn-ea"/>
              </a:rPr>
              <a:t>服务包括</a:t>
            </a:r>
            <a:r>
              <a:rPr lang="en-US" altLang="zh-CN" sz="2400" dirty="0">
                <a:latin typeface="+mn-ea"/>
                <a:ea typeface="+mn-ea"/>
              </a:rPr>
              <a:t>API Server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Scheduler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Controller Manager</a:t>
            </a:r>
            <a:r>
              <a:rPr lang="zh-CN" altLang="zh-CN" sz="2400" dirty="0">
                <a:latin typeface="+mn-ea"/>
                <a:ea typeface="+mn-ea"/>
              </a:rPr>
              <a:t>等。这些服务提供了</a:t>
            </a:r>
            <a:r>
              <a:rPr lang="en-US" altLang="zh-CN" sz="2400" dirty="0">
                <a:latin typeface="+mn-ea"/>
                <a:ea typeface="+mn-ea"/>
              </a:rPr>
              <a:t>API</a:t>
            </a:r>
            <a:r>
              <a:rPr lang="zh-CN" altLang="zh-CN" sz="2400" dirty="0">
                <a:latin typeface="+mn-ea"/>
                <a:ea typeface="+mn-ea"/>
              </a:rPr>
              <a:t>来收集和展现集群的当前状态，并在节点之间分配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，用户始终与</a:t>
            </a:r>
            <a:r>
              <a:rPr lang="en-US" altLang="zh-CN" sz="2400" dirty="0">
                <a:latin typeface="+mn-ea"/>
                <a:ea typeface="+mn-ea"/>
              </a:rPr>
              <a:t>Master</a:t>
            </a:r>
            <a:r>
              <a:rPr lang="zh-CN" altLang="zh-CN" sz="2400" dirty="0">
                <a:latin typeface="+mn-ea"/>
                <a:ea typeface="+mn-ea"/>
              </a:rPr>
              <a:t>的</a:t>
            </a:r>
            <a:r>
              <a:rPr lang="en-US" altLang="zh-CN" sz="2400" dirty="0">
                <a:latin typeface="+mn-ea"/>
                <a:ea typeface="+mn-ea"/>
              </a:rPr>
              <a:t>API</a:t>
            </a:r>
            <a:r>
              <a:rPr lang="zh-CN" altLang="zh-CN" sz="2400" dirty="0">
                <a:latin typeface="+mn-ea"/>
                <a:ea typeface="+mn-ea"/>
              </a:rPr>
              <a:t>直接交互，其为整个集群提供了一个统一视图。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）主节点存储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所有的持久化状态都保存在</a:t>
            </a:r>
            <a:r>
              <a:rPr lang="en-US" altLang="zh-CN" sz="2400" dirty="0" err="1">
                <a:latin typeface="+mn-ea"/>
                <a:ea typeface="+mn-ea"/>
              </a:rPr>
              <a:t>etcd</a:t>
            </a:r>
            <a:r>
              <a:rPr lang="zh-CN" altLang="zh-CN" sz="2400" dirty="0">
                <a:latin typeface="+mn-ea"/>
                <a:ea typeface="+mn-ea"/>
              </a:rPr>
              <a:t>中。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9164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>
                <a:latin typeface="+mn-ea"/>
                <a:ea typeface="+mn-ea"/>
              </a:rPr>
              <a:t>kubelet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其运行在每个节点之上，负责控制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，向</a:t>
            </a:r>
            <a:r>
              <a:rPr lang="en-US" altLang="zh-CN" sz="2400" dirty="0">
                <a:latin typeface="+mn-ea"/>
                <a:ea typeface="+mn-ea"/>
              </a:rPr>
              <a:t>Master</a:t>
            </a:r>
            <a:r>
              <a:rPr lang="zh-CN" altLang="zh-CN" sz="2400" dirty="0">
                <a:latin typeface="+mn-ea"/>
                <a:ea typeface="+mn-ea"/>
              </a:rPr>
              <a:t>报告自己的状态及配置节点级别的资源，如配置远程磁盘存储。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en-US" altLang="zh-CN" sz="2400" dirty="0">
                <a:latin typeface="+mn-ea"/>
                <a:ea typeface="+mn-ea"/>
              </a:rPr>
              <a:t> Proxy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其运行在每个节点之上，为本地容器提供了一个单一的网络接口，以连接一组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4890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的操作流程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的操作流程如下。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）通过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en-US" altLang="zh-CN" sz="2400" dirty="0">
                <a:latin typeface="+mn-ea"/>
                <a:ea typeface="+mn-ea"/>
              </a:rPr>
              <a:t> API</a:t>
            </a:r>
            <a:r>
              <a:rPr lang="zh-CN" altLang="zh-CN" sz="2400" dirty="0">
                <a:latin typeface="+mn-ea"/>
                <a:ea typeface="+mn-ea"/>
              </a:rPr>
              <a:t>，提交一个创建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的请求，该请求通过</a:t>
            </a:r>
            <a:r>
              <a:rPr lang="en-US" altLang="zh-CN" sz="2400" dirty="0">
                <a:latin typeface="+mn-ea"/>
                <a:ea typeface="+mn-ea"/>
              </a:rPr>
              <a:t>API Server</a:t>
            </a:r>
            <a:r>
              <a:rPr lang="zh-CN" altLang="zh-CN" sz="2400" dirty="0">
                <a:latin typeface="+mn-ea"/>
                <a:ea typeface="+mn-ea"/>
              </a:rPr>
              <a:t>被写入到</a:t>
            </a:r>
            <a:r>
              <a:rPr lang="en-US" altLang="zh-CN" sz="2400" dirty="0" err="1">
                <a:latin typeface="+mn-ea"/>
                <a:ea typeface="+mn-ea"/>
              </a:rPr>
              <a:t>etcd</a:t>
            </a:r>
            <a:r>
              <a:rPr lang="zh-CN" altLang="zh-CN" sz="2400" dirty="0">
                <a:latin typeface="+mn-ea"/>
                <a:ea typeface="+mn-ea"/>
              </a:rPr>
              <a:t>中。该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请求包含一个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模板和一个希望的副本数。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Controller Manager</a:t>
            </a:r>
            <a:r>
              <a:rPr lang="zh-CN" altLang="zh-CN" sz="2400" dirty="0">
                <a:latin typeface="+mn-ea"/>
                <a:ea typeface="+mn-ea"/>
              </a:rPr>
              <a:t>通过</a:t>
            </a:r>
            <a:r>
              <a:rPr lang="en-US" altLang="zh-CN" sz="2400" dirty="0">
                <a:latin typeface="+mn-ea"/>
                <a:ea typeface="+mn-ea"/>
              </a:rPr>
              <a:t>API Server</a:t>
            </a:r>
            <a:r>
              <a:rPr lang="zh-CN" altLang="zh-CN" sz="2400" dirty="0">
                <a:latin typeface="+mn-ea"/>
                <a:ea typeface="+mn-ea"/>
              </a:rPr>
              <a:t>监听资源变化的接口监听到该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请求，如果当前集群中没有其所对应的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实例，则根据</a:t>
            </a:r>
            <a:r>
              <a:rPr lang="en-US" altLang="zh-CN" sz="2400" dirty="0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中的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模板定义生成一个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对象，并通过</a:t>
            </a:r>
            <a:r>
              <a:rPr lang="en-US" altLang="zh-CN" sz="2400" dirty="0">
                <a:latin typeface="+mn-ea"/>
                <a:ea typeface="+mn-ea"/>
              </a:rPr>
              <a:t>API Server</a:t>
            </a:r>
            <a:r>
              <a:rPr lang="zh-CN" altLang="zh-CN" sz="2400" dirty="0">
                <a:latin typeface="+mn-ea"/>
                <a:ea typeface="+mn-ea"/>
              </a:rPr>
              <a:t>写入</a:t>
            </a:r>
            <a:r>
              <a:rPr lang="en-US" altLang="zh-CN" sz="2400" dirty="0" err="1">
                <a:latin typeface="+mn-ea"/>
                <a:ea typeface="+mn-ea"/>
              </a:rPr>
              <a:t>etcd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02002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Scheduler</a:t>
            </a:r>
            <a:r>
              <a:rPr lang="zh-CN" altLang="zh-CN" sz="2400" dirty="0">
                <a:latin typeface="+mn-ea"/>
                <a:ea typeface="+mn-ea"/>
              </a:rPr>
              <a:t>通过查看集群的当前状态（有哪些可用节点，以及各节点有哪些可用资源）执行相应的调度流程，将新的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绑定到指定的节点上，并通过</a:t>
            </a:r>
            <a:r>
              <a:rPr lang="en-US" altLang="zh-CN" sz="2400" dirty="0">
                <a:latin typeface="+mn-ea"/>
                <a:ea typeface="+mn-ea"/>
              </a:rPr>
              <a:t>API Server</a:t>
            </a:r>
            <a:r>
              <a:rPr lang="zh-CN" altLang="zh-CN" sz="2400" dirty="0">
                <a:latin typeface="+mn-ea"/>
                <a:ea typeface="+mn-ea"/>
              </a:rPr>
              <a:t>将该结果写入到</a:t>
            </a:r>
            <a:r>
              <a:rPr lang="en-US" altLang="zh-CN" sz="2400" dirty="0" err="1">
                <a:latin typeface="+mn-ea"/>
                <a:ea typeface="+mn-ea"/>
              </a:rPr>
              <a:t>etcd</a:t>
            </a:r>
            <a:r>
              <a:rPr lang="zh-CN" altLang="zh-CN" sz="2400" dirty="0">
                <a:latin typeface="+mn-ea"/>
                <a:ea typeface="+mn-ea"/>
              </a:rPr>
              <a:t>中。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）该节点上的</a:t>
            </a:r>
            <a:r>
              <a:rPr lang="en-US" altLang="zh-CN" sz="2400" dirty="0" err="1">
                <a:latin typeface="+mn-ea"/>
                <a:ea typeface="+mn-ea"/>
              </a:rPr>
              <a:t>kubelet</a:t>
            </a:r>
            <a:r>
              <a:rPr lang="zh-CN" altLang="zh-CN" sz="2400" dirty="0">
                <a:latin typeface="+mn-ea"/>
                <a:ea typeface="+mn-ea"/>
              </a:rPr>
              <a:t>会监测分配给其所在节点的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组中的变化，并根据情况来启动或者终止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。其过程包括在需要时对存储卷进行配置，将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镜像下载到指定节点中，以及通过调用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API</a:t>
            </a:r>
            <a:r>
              <a:rPr lang="zh-CN" altLang="zh-CN" sz="2400" dirty="0">
                <a:latin typeface="+mn-ea"/>
                <a:ea typeface="+mn-ea"/>
              </a:rPr>
              <a:t>来启动或终止各个容器。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1198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 </a:t>
            </a:r>
            <a:r>
              <a:rPr lang="en-US" altLang="zh-CN" sz="2400" dirty="0" smtClean="0">
                <a:latin typeface="+mn-ea"/>
                <a:ea typeface="+mn-ea"/>
              </a:rPr>
              <a:t>使用</a:t>
            </a:r>
            <a:r>
              <a:rPr lang="en-US" altLang="zh-CN" sz="2400" dirty="0">
                <a:latin typeface="+mn-ea"/>
                <a:ea typeface="+mn-ea"/>
              </a:rPr>
              <a:t>kubeadm安装Kubernetes</a:t>
            </a:r>
            <a:r>
              <a:rPr lang="en-US" altLang="zh-CN" sz="2400" dirty="0" smtClean="0">
                <a:latin typeface="+mn-ea"/>
                <a:ea typeface="+mn-ea"/>
              </a:rPr>
              <a:t>集群</a:t>
            </a: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2. </a:t>
            </a:r>
            <a:r>
              <a:rPr lang="zh-CN" altLang="zh-CN" sz="2400" dirty="0" smtClean="0">
                <a:latin typeface="+mn-ea"/>
                <a:ea typeface="+mn-ea"/>
              </a:rPr>
              <a:t>使用</a:t>
            </a:r>
            <a:r>
              <a:rPr lang="en-US" altLang="zh-CN" sz="2400" dirty="0">
                <a:latin typeface="+mn-ea"/>
                <a:ea typeface="+mn-ea"/>
              </a:rPr>
              <a:t>Rancher</a:t>
            </a:r>
            <a:r>
              <a:rPr lang="zh-CN" altLang="zh-CN" sz="2400" dirty="0">
                <a:latin typeface="+mn-ea"/>
                <a:ea typeface="+mn-ea"/>
              </a:rPr>
              <a:t>部署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集群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1362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实训目的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en-US" altLang="zh-CN" sz="2400" dirty="0" err="1">
                <a:latin typeface="+mn-ea"/>
                <a:ea typeface="+mn-ea"/>
              </a:rPr>
              <a:t>CentOS</a:t>
            </a:r>
            <a:r>
              <a:rPr lang="en-US" altLang="zh-CN" sz="2400" dirty="0">
                <a:latin typeface="+mn-ea"/>
                <a:ea typeface="+mn-ea"/>
              </a:rPr>
              <a:t> 7</a:t>
            </a:r>
            <a:r>
              <a:rPr lang="zh-CN" altLang="en-US" sz="2400" dirty="0">
                <a:latin typeface="+mn-ea"/>
                <a:ea typeface="+mn-ea"/>
              </a:rPr>
              <a:t>操作系统中的安装方法。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集群的在线和离线创建。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）掌握在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上安装</a:t>
            </a:r>
            <a:r>
              <a:rPr lang="en-US" altLang="zh-CN" sz="2400" dirty="0">
                <a:latin typeface="+mn-ea"/>
                <a:ea typeface="+mn-ea"/>
              </a:rPr>
              <a:t>Dashboard</a:t>
            </a:r>
            <a:r>
              <a:rPr lang="zh-CN" altLang="en-US" sz="2400" dirty="0">
                <a:latin typeface="+mn-ea"/>
                <a:ea typeface="+mn-ea"/>
              </a:rPr>
              <a:t>监控界面的方法。</a:t>
            </a: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 实训内容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）在</a:t>
            </a:r>
            <a:r>
              <a:rPr lang="en-US" altLang="zh-CN" sz="2400" dirty="0" err="1">
                <a:latin typeface="+mn-ea"/>
                <a:ea typeface="+mn-ea"/>
              </a:rPr>
              <a:t>CentOS</a:t>
            </a:r>
            <a:r>
              <a:rPr lang="en-US" altLang="zh-CN" sz="2400" dirty="0">
                <a:latin typeface="+mn-ea"/>
                <a:ea typeface="+mn-ea"/>
              </a:rPr>
              <a:t> 7</a:t>
            </a:r>
            <a:r>
              <a:rPr lang="zh-CN" altLang="en-US" sz="2400" dirty="0">
                <a:latin typeface="+mn-ea"/>
                <a:ea typeface="+mn-ea"/>
              </a:rPr>
              <a:t>操作系统中安装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集群。</a:t>
            </a: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）在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上安装</a:t>
            </a:r>
            <a:r>
              <a:rPr lang="en-US" altLang="zh-CN" sz="2400" dirty="0">
                <a:latin typeface="+mn-ea"/>
                <a:ea typeface="+mn-ea"/>
              </a:rPr>
              <a:t>Dashboard</a:t>
            </a:r>
            <a:r>
              <a:rPr lang="zh-CN" altLang="en-US" sz="2400" dirty="0">
                <a:latin typeface="+mn-ea"/>
                <a:ea typeface="+mn-ea"/>
              </a:rPr>
              <a:t>监控界面。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的发展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7110601" cy="609600"/>
          </a:xfrm>
        </p:spPr>
        <p:txBody>
          <a:bodyPr/>
          <a:lstStyle/>
          <a:p>
            <a:r>
              <a:rPr lang="zh-CN" altLang="en-US" sz="3200" b="1" dirty="0" smtClean="0"/>
              <a:t>项目实训   安装</a:t>
            </a:r>
            <a:r>
              <a:rPr lang="en-US" altLang="zh-CN" sz="3200" b="1" dirty="0" err="1" smtClean="0"/>
              <a:t>Kubernetes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9035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Kubernetes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的发展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612014" cy="1645402"/>
            <a:chOff x="2638525" y="3259707"/>
            <a:chExt cx="6612014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6683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Kubernetes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的基本操作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362813" y="4043423"/>
            <a:ext cx="24674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172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5623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zh-CN" sz="2800" dirty="0">
                <a:latin typeface="+mn-ea"/>
                <a:ea typeface="+mn-ea"/>
              </a:rPr>
              <a:t>工程师小王在编写完</a:t>
            </a:r>
            <a:r>
              <a:rPr lang="en-US" altLang="zh-CN" sz="2800" dirty="0" err="1">
                <a:latin typeface="+mn-ea"/>
                <a:ea typeface="+mn-ea"/>
              </a:rPr>
              <a:t>Kubernetes</a:t>
            </a:r>
            <a:r>
              <a:rPr lang="zh-CN" altLang="zh-CN" sz="2800" dirty="0">
                <a:latin typeface="+mn-ea"/>
                <a:ea typeface="+mn-ea"/>
              </a:rPr>
              <a:t>安装手册后，为便于公司相关技术人员了解及使用</a:t>
            </a:r>
            <a:r>
              <a:rPr lang="en-US" altLang="zh-CN" sz="2800" dirty="0" err="1">
                <a:latin typeface="+mn-ea"/>
                <a:ea typeface="+mn-ea"/>
              </a:rPr>
              <a:t>Kubernetes</a:t>
            </a:r>
            <a:r>
              <a:rPr lang="zh-CN" altLang="zh-CN" sz="2800" dirty="0">
                <a:latin typeface="+mn-ea"/>
                <a:ea typeface="+mn-ea"/>
              </a:rPr>
              <a:t>集群管理功能，又特意编写了</a:t>
            </a:r>
            <a:r>
              <a:rPr lang="en-US" altLang="zh-CN" sz="2800" dirty="0" err="1">
                <a:latin typeface="+mn-ea"/>
                <a:ea typeface="+mn-ea"/>
              </a:rPr>
              <a:t>kubectl</a:t>
            </a:r>
            <a:r>
              <a:rPr lang="zh-CN" altLang="zh-CN" sz="2800" dirty="0">
                <a:latin typeface="+mn-ea"/>
                <a:ea typeface="+mn-ea"/>
              </a:rPr>
              <a:t>命令手册。</a:t>
            </a: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7.1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任务要求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14397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408748"/>
            <a:ext cx="1169572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7.2.1 </a:t>
            </a:r>
            <a:r>
              <a:rPr lang="en-US" altLang="zh-CN" sz="2800" dirty="0" err="1" smtClean="0">
                <a:latin typeface="+mn-ea"/>
                <a:ea typeface="+mn-ea"/>
              </a:rPr>
              <a:t>Kubectl</a:t>
            </a:r>
            <a:r>
              <a:rPr lang="zh-CN" altLang="en-US" sz="2800" dirty="0" smtClean="0">
                <a:latin typeface="+mn-ea"/>
                <a:ea typeface="+mn-ea"/>
              </a:rPr>
              <a:t>概述</a:t>
            </a:r>
            <a:endParaRPr lang="en-US" altLang="zh-CN" sz="28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是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zh-CN" sz="2400" dirty="0">
                <a:latin typeface="+mn-ea"/>
                <a:ea typeface="+mn-ea"/>
              </a:rPr>
              <a:t>集群的命令行工具，使用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能够对集群本身进行管理，并能够在集群上进行容器化应用的安装部署。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[command] [TYPE] [NAME] [flags]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其各参数说明如下。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command</a:t>
            </a:r>
            <a:r>
              <a:rPr lang="zh-CN" altLang="zh-CN" sz="2400" dirty="0">
                <a:latin typeface="+mn-ea"/>
                <a:ea typeface="+mn-ea"/>
              </a:rPr>
              <a:t>：指定要对资源执行的操作的子命令。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TYPE</a:t>
            </a:r>
            <a:r>
              <a:rPr lang="zh-CN" altLang="zh-CN" sz="2400" dirty="0">
                <a:latin typeface="+mn-ea"/>
                <a:ea typeface="+mn-ea"/>
              </a:rPr>
              <a:t>：指定要操作的资源对象，资源对象区分英文字母大小写。</a:t>
            </a: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NAME</a:t>
            </a:r>
            <a:r>
              <a:rPr lang="zh-CN" altLang="zh-CN" sz="2400" dirty="0">
                <a:latin typeface="+mn-ea"/>
                <a:ea typeface="+mn-ea"/>
              </a:rPr>
              <a:t>：指定要操作资源的名称，名称区分英文字母大小写。如果省略名称，则会显示所有的</a:t>
            </a:r>
            <a:r>
              <a:rPr lang="zh-CN" altLang="zh-CN" sz="2400" dirty="0" smtClean="0">
                <a:latin typeface="+mn-ea"/>
                <a:ea typeface="+mn-ea"/>
              </a:rPr>
              <a:t>资源。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zh-CN" sz="2400" dirty="0">
                <a:latin typeface="+mn-ea"/>
              </a:rPr>
              <a:t>）</a:t>
            </a:r>
            <a:r>
              <a:rPr lang="en-US" altLang="zh-CN" sz="2400" dirty="0">
                <a:latin typeface="+mn-ea"/>
              </a:rPr>
              <a:t>flags</a:t>
            </a:r>
            <a:r>
              <a:rPr lang="zh-CN" altLang="zh-CN" sz="2400" dirty="0">
                <a:latin typeface="+mn-ea"/>
              </a:rPr>
              <a:t>：指定可选的参数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0782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命令支持命令自动补全功能。在</a:t>
            </a:r>
            <a:r>
              <a:rPr lang="en-US" altLang="zh-CN" sz="2400" dirty="0">
                <a:latin typeface="+mn-ea"/>
                <a:ea typeface="+mn-ea"/>
              </a:rPr>
              <a:t>Linux</a:t>
            </a:r>
            <a:r>
              <a:rPr lang="zh-CN" altLang="zh-CN" sz="2400" dirty="0">
                <a:latin typeface="+mn-ea"/>
                <a:ea typeface="+mn-ea"/>
              </a:rPr>
              <a:t>操作系统中，可执行以下操作添加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命令自动补全功能。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#yum </a:t>
            </a:r>
            <a:r>
              <a:rPr lang="en-US" altLang="zh-CN" sz="2400" dirty="0">
                <a:latin typeface="+mn-ea"/>
                <a:ea typeface="+mn-ea"/>
              </a:rPr>
              <a:t>-y install bash-completion</a:t>
            </a:r>
            <a:endParaRPr lang="zh-CN" altLang="zh-CN" sz="2400" dirty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#</a:t>
            </a:r>
            <a:r>
              <a:rPr lang="en-US" altLang="zh-CN" sz="2400" dirty="0" smtClean="0">
                <a:latin typeface="+mn-ea"/>
                <a:ea typeface="+mn-ea"/>
              </a:rPr>
              <a:t>echo </a:t>
            </a:r>
            <a:r>
              <a:rPr lang="en-US" altLang="zh-CN" sz="2400" dirty="0">
                <a:latin typeface="+mn-ea"/>
                <a:ea typeface="+mn-ea"/>
              </a:rPr>
              <a:t>"source &lt;(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completion bash)" &gt;&gt; </a:t>
            </a:r>
            <a:r>
              <a:rPr lang="zh-CN" altLang="zh-CN" sz="2400" dirty="0">
                <a:latin typeface="+mn-ea"/>
                <a:ea typeface="+mn-ea"/>
              </a:rPr>
              <a:t>～</a:t>
            </a:r>
            <a:r>
              <a:rPr lang="en-US" altLang="zh-CN" sz="2400" dirty="0">
                <a:latin typeface="+mn-ea"/>
                <a:ea typeface="+mn-ea"/>
              </a:rPr>
              <a:t>/.</a:t>
            </a:r>
            <a:r>
              <a:rPr lang="en-US" altLang="zh-CN" sz="2400" dirty="0" err="1">
                <a:latin typeface="+mn-ea"/>
                <a:ea typeface="+mn-ea"/>
              </a:rPr>
              <a:t>bashrc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195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7.2.2 </a:t>
            </a:r>
            <a:r>
              <a:rPr lang="en-US" altLang="zh-CN" sz="2800" dirty="0" err="1" smtClean="0">
                <a:latin typeface="+mn-ea"/>
                <a:ea typeface="+mn-ea"/>
              </a:rPr>
              <a:t>kubectl</a:t>
            </a:r>
            <a:r>
              <a:rPr lang="zh-CN" altLang="en-US" sz="2800" dirty="0" smtClean="0">
                <a:latin typeface="+mn-ea"/>
                <a:ea typeface="+mn-ea"/>
              </a:rPr>
              <a:t>常用命令</a:t>
            </a:r>
            <a:endParaRPr lang="en-US" altLang="zh-CN" sz="2800" dirty="0" smtClean="0"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apply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apply</a:t>
            </a:r>
            <a:r>
              <a:rPr lang="zh-CN" altLang="zh-CN" sz="2400" dirty="0">
                <a:latin typeface="+mn-ea"/>
                <a:ea typeface="+mn-ea"/>
              </a:rPr>
              <a:t>命令主要利用相关的配置文件对集群对象执行增、改操作。其命令格式如下。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apply -f FILENAME [options]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-f </a:t>
            </a:r>
            <a:r>
              <a:rPr lang="zh-CN" altLang="zh-CN" sz="2400" dirty="0">
                <a:latin typeface="+mn-ea"/>
                <a:ea typeface="+mn-ea"/>
              </a:rPr>
              <a:t>参数后加</a:t>
            </a:r>
            <a:r>
              <a:rPr lang="en-US" altLang="zh-CN" sz="2400" dirty="0">
                <a:latin typeface="+mn-ea"/>
                <a:ea typeface="+mn-ea"/>
              </a:rPr>
              <a:t>YAML</a:t>
            </a:r>
            <a:r>
              <a:rPr lang="zh-CN" altLang="zh-CN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JSON</a:t>
            </a:r>
            <a:r>
              <a:rPr lang="zh-CN" altLang="zh-CN" sz="2400" dirty="0">
                <a:latin typeface="+mn-ea"/>
                <a:ea typeface="+mn-ea"/>
              </a:rPr>
              <a:t>格式的资源配置文件，如果配置文件中的资源在集群中不存在，则创建这个资源；如果存在，则根据配置对资源字段进行更新。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0048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create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create</a:t>
            </a:r>
            <a:r>
              <a:rPr lang="zh-CN" altLang="zh-CN" sz="2400" dirty="0">
                <a:latin typeface="+mn-ea"/>
                <a:ea typeface="+mn-ea"/>
              </a:rPr>
              <a:t>命令主要根据配置文件或输入的代码创建集群的资源，其命令格式如下。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create -f FILENAME [flags]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2952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delete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delete</a:t>
            </a:r>
            <a:r>
              <a:rPr lang="zh-CN" altLang="zh-CN" sz="2400" dirty="0">
                <a:latin typeface="+mn-ea"/>
                <a:ea typeface="+mn-ea"/>
              </a:rPr>
              <a:t>命令可用于删除对象，其命令格式如下。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delete (-f FILENAME \| TYPE [NAME \| /NAME \| -l label \| –all]) [flags]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6907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replace</a:t>
            </a:r>
            <a:endParaRPr lang="zh-CN" altLang="zh-CN" sz="2400" dirty="0"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replace</a:t>
            </a:r>
            <a:r>
              <a:rPr lang="zh-CN" altLang="zh-CN" sz="2400" dirty="0">
                <a:latin typeface="+mn-ea"/>
                <a:ea typeface="+mn-ea"/>
              </a:rPr>
              <a:t>命令用于对已有的资源进行更新、替换操作，其命令格式如下。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replace -f FILENAME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replace</a:t>
            </a:r>
            <a:r>
              <a:rPr lang="zh-CN" altLang="zh-CN" sz="2400" dirty="0">
                <a:latin typeface="+mn-ea"/>
                <a:ea typeface="+mn-ea"/>
              </a:rPr>
              <a:t>命令可更新副本数量、修改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、更改</a:t>
            </a:r>
            <a:r>
              <a:rPr lang="en-US" altLang="zh-CN" sz="2400" dirty="0">
                <a:latin typeface="+mn-ea"/>
                <a:ea typeface="+mn-ea"/>
              </a:rPr>
              <a:t>image</a:t>
            </a:r>
            <a:r>
              <a:rPr lang="zh-CN" altLang="zh-CN" sz="2400" dirty="0">
                <a:latin typeface="+mn-ea"/>
                <a:ea typeface="+mn-ea"/>
              </a:rPr>
              <a:t>版本等，但名称不能更新。如果更新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，则原有标签的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将会与更新</a:t>
            </a:r>
            <a:r>
              <a:rPr lang="en-US" altLang="zh-CN" sz="2400" dirty="0">
                <a:latin typeface="+mn-ea"/>
                <a:ea typeface="+mn-ea"/>
              </a:rPr>
              <a:t>Label</a:t>
            </a:r>
            <a:r>
              <a:rPr lang="zh-CN" altLang="zh-CN" sz="2400" dirty="0">
                <a:latin typeface="+mn-ea"/>
                <a:ea typeface="+mn-ea"/>
              </a:rPr>
              <a:t>后的</a:t>
            </a:r>
            <a:r>
              <a:rPr lang="en-US" altLang="zh-CN" sz="2400" dirty="0" err="1">
                <a:latin typeface="+mn-ea"/>
                <a:ea typeface="+mn-ea"/>
              </a:rPr>
              <a:t>rc</a:t>
            </a:r>
            <a:r>
              <a:rPr lang="zh-CN" altLang="zh-CN" sz="2400" dirty="0">
                <a:latin typeface="+mn-ea"/>
                <a:ea typeface="+mn-ea"/>
              </a:rPr>
              <a:t>断开连接，并会创建指定副本数的新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，但是默认不会删除原有的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9198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patch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patch</a:t>
            </a:r>
            <a:r>
              <a:rPr lang="zh-CN" altLang="zh-CN" sz="2400" dirty="0">
                <a:latin typeface="+mn-ea"/>
                <a:ea typeface="+mn-ea"/>
              </a:rPr>
              <a:t>命令用于在容器运行时对容器属性进行修改，其命令格式如下。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patch (-f FILENAME \| TYPE NAME \| TYPE/NAME) –patch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PATCH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[flags]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1614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get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zh-CN" sz="2400" dirty="0">
                <a:latin typeface="+mn-ea"/>
                <a:ea typeface="+mn-ea"/>
              </a:rPr>
              <a:t>命令用于获取并列出一个或多个资源的信息，其命令格式如下。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get (-f FILENAME \| TYPE [NAME \| /NAME \| -l label]) [–watch] </a:t>
            </a:r>
            <a:b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[–sort-by=FIELD] [[-o \| –output]=OUTPUT_FORMAT] [flags]</a:t>
            </a:r>
            <a:endParaRPr lang="en-US" altLang="zh-CN" sz="24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1541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describe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describe</a:t>
            </a:r>
            <a:r>
              <a:rPr lang="zh-CN" altLang="zh-CN" sz="2400" dirty="0">
                <a:latin typeface="+mn-ea"/>
                <a:ea typeface="+mn-ea"/>
              </a:rPr>
              <a:t>命令用于获取资源的相关信息，其命令格式如下。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describe (-f FILENAME \| TYPE [NAME_PREFIX \| /NAME \| -l label]) [flags]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89321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/>
              <a:t>8</a:t>
            </a:r>
            <a:r>
              <a:rPr lang="zh-CN" altLang="zh-CN" sz="2400" dirty="0"/>
              <a:t>．</a:t>
            </a:r>
            <a:r>
              <a:rPr lang="en-US" altLang="zh-CN" sz="2400" dirty="0" err="1"/>
              <a:t>kubectl</a:t>
            </a:r>
            <a:r>
              <a:rPr lang="en-US" altLang="zh-CN" sz="2400" dirty="0"/>
              <a:t> logs</a:t>
            </a:r>
            <a:r>
              <a:rPr lang="zh-CN" altLang="zh-CN" sz="2400" dirty="0"/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/>
              <a:t>kubectl</a:t>
            </a:r>
            <a:r>
              <a:rPr lang="en-US" altLang="zh-CN" sz="2400" dirty="0"/>
              <a:t> logs</a:t>
            </a:r>
            <a:r>
              <a:rPr lang="zh-CN" altLang="zh-CN" sz="2400" dirty="0"/>
              <a:t>命令用于查看日志信息，其命令格式如下。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</a:rPr>
              <a:t> logs [-f] [-p] (POD | TYPE/NAME) [-c CONTAINER] [options]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81473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9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scale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scale</a:t>
            </a:r>
            <a:r>
              <a:rPr lang="zh-CN" altLang="zh-CN" sz="2400" dirty="0">
                <a:latin typeface="+mn-ea"/>
                <a:ea typeface="+mn-ea"/>
              </a:rPr>
              <a:t>命令用于设置副本的数量，其命令格式如下。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scale (-f FILENAME \| TYPE NAME \| TYPE/NAME) –replicas=COUNT </a:t>
            </a:r>
            <a:b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</a:b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[–resource-version=version] [–current-replicas=count] [flags]</a:t>
            </a:r>
            <a:endParaRPr lang="zh-CN" altLang="zh-CN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94493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10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rolling-update</a:t>
            </a:r>
            <a:r>
              <a:rPr lang="zh-CN" altLang="zh-CN" sz="2400" dirty="0">
                <a:latin typeface="+mn-ea"/>
                <a:ea typeface="+mn-ea"/>
              </a:rPr>
              <a:t>命令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rolling-update</a:t>
            </a:r>
            <a:r>
              <a:rPr lang="zh-CN" altLang="zh-CN" sz="2400" dirty="0">
                <a:latin typeface="+mn-ea"/>
                <a:ea typeface="+mn-ea"/>
              </a:rPr>
              <a:t>命令用于滚动更新，即在不中断业务的情况下更新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，其命令格式如下。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200" dirty="0" err="1">
                <a:solidFill>
                  <a:srgbClr val="FF0000"/>
                </a:solidFill>
                <a:latin typeface="+mn-ea"/>
                <a:ea typeface="+mn-ea"/>
              </a:rPr>
              <a:t>kubectl</a:t>
            </a: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 rolling-update OLD_CONTROLLER_NAME ([NEW_CONTROLLER_NAME] –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  <a:ea typeface="+mn-ea"/>
              </a:rPr>
              <a:t>image=NEW_CONTAINER_IMAGE </a:t>
            </a:r>
            <a:r>
              <a:rPr lang="en-US" altLang="zh-CN" sz="2200" dirty="0">
                <a:solidFill>
                  <a:srgbClr val="FF0000"/>
                </a:solidFill>
                <a:latin typeface="+mn-ea"/>
                <a:ea typeface="+mn-ea"/>
              </a:rPr>
              <a:t>\| -f NEW_CONTROLLER_SPEC) [flags]</a:t>
            </a:r>
            <a:endParaRPr lang="en-US" altLang="zh-CN" sz="22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0532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11</a:t>
            </a:r>
            <a:r>
              <a:rPr lang="zh-CN" altLang="zh-CN" sz="2400" dirty="0">
                <a:latin typeface="+mn-ea"/>
                <a:ea typeface="+mn-ea"/>
              </a:rPr>
              <a:t>．其他命令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exec</a:t>
            </a:r>
            <a:r>
              <a:rPr lang="zh-CN" altLang="zh-CN" sz="2400" dirty="0">
                <a:latin typeface="+mn-ea"/>
                <a:ea typeface="+mn-ea"/>
              </a:rPr>
              <a:t>命令类似于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的</a:t>
            </a:r>
            <a:r>
              <a:rPr lang="en-US" altLang="zh-CN" sz="2400" dirty="0">
                <a:latin typeface="+mn-ea"/>
                <a:ea typeface="+mn-ea"/>
              </a:rPr>
              <a:t>exec</a:t>
            </a:r>
            <a:r>
              <a:rPr lang="zh-CN" altLang="zh-CN" sz="2400" dirty="0">
                <a:latin typeface="+mn-ea"/>
                <a:ea typeface="+mn-ea"/>
              </a:rPr>
              <a:t>命令。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run</a:t>
            </a:r>
            <a:r>
              <a:rPr lang="zh-CN" altLang="zh-CN" sz="2400" dirty="0">
                <a:latin typeface="+mn-ea"/>
                <a:ea typeface="+mn-ea"/>
              </a:rPr>
              <a:t>命令类似于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的</a:t>
            </a:r>
            <a:r>
              <a:rPr lang="en-US" altLang="zh-CN" sz="2400" dirty="0">
                <a:latin typeface="+mn-ea"/>
                <a:ea typeface="+mn-ea"/>
              </a:rPr>
              <a:t>run</a:t>
            </a:r>
            <a:r>
              <a:rPr lang="zh-CN" altLang="zh-CN" sz="2400" dirty="0">
                <a:latin typeface="+mn-ea"/>
                <a:ea typeface="+mn-ea"/>
              </a:rPr>
              <a:t>命令。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cp</a:t>
            </a:r>
            <a:r>
              <a:rPr lang="zh-CN" altLang="zh-CN" sz="2400" dirty="0">
                <a:latin typeface="+mn-ea"/>
                <a:ea typeface="+mn-ea"/>
              </a:rPr>
              <a:t>命令用于</a:t>
            </a:r>
            <a:r>
              <a:rPr lang="en-US" altLang="zh-CN" sz="2400" dirty="0">
                <a:latin typeface="+mn-ea"/>
                <a:ea typeface="+mn-ea"/>
              </a:rPr>
              <a:t>Pod</a:t>
            </a:r>
            <a:r>
              <a:rPr lang="zh-CN" altLang="zh-CN" sz="2400" dirty="0">
                <a:latin typeface="+mn-ea"/>
                <a:ea typeface="+mn-ea"/>
              </a:rPr>
              <a:t>和外部文件的交换。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cluster-info</a:t>
            </a:r>
            <a:r>
              <a:rPr lang="zh-CN" altLang="zh-CN" sz="2400" dirty="0">
                <a:latin typeface="+mn-ea"/>
                <a:ea typeface="+mn-ea"/>
              </a:rPr>
              <a:t>命令可查看集群信息。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cordon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uncordon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en-US" altLang="zh-CN" sz="2400" dirty="0">
                <a:latin typeface="+mn-ea"/>
                <a:ea typeface="+mn-ea"/>
              </a:rPr>
              <a:t> drain</a:t>
            </a:r>
            <a:r>
              <a:rPr lang="zh-CN" altLang="zh-CN" sz="2400" dirty="0">
                <a:latin typeface="+mn-ea"/>
                <a:ea typeface="+mn-ea"/>
              </a:rPr>
              <a:t>命令可用于节点管理。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2247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en-US" altLang="zh-CN" sz="2400" dirty="0" err="1" smtClean="0">
                <a:latin typeface="+mn-ea"/>
                <a:ea typeface="+mn-ea"/>
              </a:rPr>
              <a:t>Kubernetes</a:t>
            </a:r>
            <a:r>
              <a:rPr lang="zh-CN" altLang="en-US" sz="2400" dirty="0" smtClean="0">
                <a:latin typeface="+mn-ea"/>
                <a:ea typeface="+mn-ea"/>
              </a:rPr>
              <a:t>下部署</a:t>
            </a:r>
            <a:r>
              <a:rPr lang="en-US" altLang="zh-CN" sz="2400" dirty="0" err="1" smtClean="0">
                <a:latin typeface="+mn-ea"/>
                <a:ea typeface="+mn-ea"/>
              </a:rPr>
              <a:t>nginx</a:t>
            </a:r>
            <a:r>
              <a:rPr lang="zh-CN" altLang="en-US" sz="2400" dirty="0" smtClean="0">
                <a:latin typeface="+mn-ea"/>
                <a:ea typeface="+mn-ea"/>
              </a:rPr>
              <a:t>服务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2279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实训目的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）掌握在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上部署</a:t>
            </a:r>
            <a:r>
              <a:rPr lang="en-US" altLang="zh-CN" sz="2400" dirty="0">
                <a:latin typeface="+mn-ea"/>
                <a:ea typeface="+mn-ea"/>
              </a:rPr>
              <a:t>Tomcat</a:t>
            </a:r>
            <a:r>
              <a:rPr lang="zh-CN" altLang="en-US" sz="2400" dirty="0">
                <a:latin typeface="+mn-ea"/>
                <a:ea typeface="+mn-ea"/>
              </a:rPr>
              <a:t>应用的方法。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）掌握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en-US" sz="2400" dirty="0">
                <a:latin typeface="+mn-ea"/>
                <a:ea typeface="+mn-ea"/>
              </a:rPr>
              <a:t>常用命令的使用方法。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 实训内容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）在</a:t>
            </a:r>
            <a:r>
              <a:rPr lang="en-US" altLang="zh-CN" sz="2400" dirty="0" err="1">
                <a:latin typeface="+mn-ea"/>
                <a:ea typeface="+mn-ea"/>
              </a:rPr>
              <a:t>Kubernetes</a:t>
            </a:r>
            <a:r>
              <a:rPr lang="zh-CN" altLang="en-US" sz="2400" dirty="0">
                <a:latin typeface="+mn-ea"/>
                <a:ea typeface="+mn-ea"/>
              </a:rPr>
              <a:t>上部署</a:t>
            </a:r>
            <a:r>
              <a:rPr lang="en-US" altLang="zh-CN" sz="2400" dirty="0">
                <a:latin typeface="+mn-ea"/>
                <a:ea typeface="+mn-ea"/>
              </a:rPr>
              <a:t>Tomcat</a:t>
            </a:r>
            <a:r>
              <a:rPr lang="zh-CN" altLang="en-US" sz="2400" dirty="0">
                <a:latin typeface="+mn-ea"/>
                <a:ea typeface="+mn-ea"/>
              </a:rPr>
              <a:t>应用。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）利用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en-US" sz="2400" dirty="0">
                <a:latin typeface="+mn-ea"/>
                <a:ea typeface="+mn-ea"/>
              </a:rPr>
              <a:t>命令查询相关信息。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）利用</a:t>
            </a:r>
            <a:r>
              <a:rPr lang="en-US" altLang="zh-CN" sz="2400" dirty="0" err="1">
                <a:latin typeface="+mn-ea"/>
                <a:ea typeface="+mn-ea"/>
              </a:rPr>
              <a:t>kubectl</a:t>
            </a:r>
            <a:r>
              <a:rPr lang="zh-CN" altLang="en-US" sz="2400" dirty="0">
                <a:latin typeface="+mn-ea"/>
                <a:ea typeface="+mn-ea"/>
              </a:rPr>
              <a:t>命令执行扩容、缩减、升级和回滚操作。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711060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7.2 </a:t>
            </a:r>
            <a:r>
              <a:rPr lang="en-US" altLang="zh-CN" dirty="0" err="1" smtClean="0"/>
              <a:t>Kubernetes</a:t>
            </a:r>
            <a:r>
              <a:rPr lang="zh-CN" altLang="en-US" dirty="0" smtClean="0"/>
              <a:t>的基本操作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7777351" cy="609600"/>
          </a:xfrm>
        </p:spPr>
        <p:txBody>
          <a:bodyPr/>
          <a:lstStyle/>
          <a:p>
            <a:r>
              <a:rPr lang="zh-CN" altLang="en-US" sz="3200" b="1" dirty="0" smtClean="0"/>
              <a:t>项目实训   </a:t>
            </a:r>
            <a:r>
              <a:rPr lang="zh-CN" altLang="en-US" sz="3200" b="1" dirty="0" smtClean="0"/>
              <a:t>在</a:t>
            </a:r>
            <a:r>
              <a:rPr lang="en-US" altLang="zh-CN" sz="3200" b="1" dirty="0" err="1" smtClean="0"/>
              <a:t>Kubernetes</a:t>
            </a:r>
            <a:r>
              <a:rPr lang="zh-CN" altLang="en-US" sz="3200" b="1" dirty="0" smtClean="0"/>
              <a:t>上部署</a:t>
            </a:r>
            <a:r>
              <a:rPr lang="en-US" altLang="zh-CN" sz="3200" b="1" dirty="0" smtClean="0"/>
              <a:t>Tomcat</a:t>
            </a:r>
            <a:r>
              <a:rPr lang="zh-CN" altLang="en-US" sz="3200" b="1" dirty="0" smtClean="0"/>
              <a:t>应用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7.2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1546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709609" y="2501900"/>
            <a:ext cx="2334293" cy="2754665"/>
          </a:xfrm>
        </p:spPr>
        <p:txBody>
          <a:bodyPr/>
          <a:lstStyle/>
          <a:p>
            <a:r>
              <a:rPr lang="en-US" altLang="zh-CN" dirty="0" smtClean="0"/>
              <a:t>Thank</a:t>
            </a:r>
          </a:p>
          <a:p>
            <a:r>
              <a:rPr lang="en-US" altLang="zh-CN" dirty="0"/>
              <a:t>YOU</a:t>
            </a:r>
            <a:r>
              <a:rPr lang="en-US" altLang="zh-CN" dirty="0" smtClean="0"/>
              <a:t>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77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蓝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0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5588</TotalTime>
  <Words>3113</Words>
  <Application>Microsoft Office PowerPoint</Application>
  <PresentationFormat>宽屏</PresentationFormat>
  <Paragraphs>351</Paragraphs>
  <Slides>42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方正兰亭超细黑简体</vt:lpstr>
      <vt:lpstr>宋体</vt:lpstr>
      <vt:lpstr>微软雅黑</vt:lpstr>
      <vt:lpstr>Arial</vt:lpstr>
      <vt:lpstr>Calibri</vt:lpstr>
      <vt:lpstr>Calibri Light</vt:lpstr>
      <vt:lpstr>Segoe UI Semilight</vt:lpstr>
      <vt:lpstr>Times New Roman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云计算和云计算基础架构平台介绍  南京第五十五所技术开发有限公司 宋学永 于奎伟 程然</dc:title>
  <dc:creator>soongxueyong</dc:creator>
  <cp:lastModifiedBy>PC</cp:lastModifiedBy>
  <cp:revision>1010</cp:revision>
  <dcterms:modified xsi:type="dcterms:W3CDTF">2020-06-29T15:46:19Z</dcterms:modified>
</cp:coreProperties>
</file>